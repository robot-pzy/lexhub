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0489b41a7844e2" /><Relationship Type="http://schemas.openxmlformats.org/officeDocument/2006/relationships/extended-properties" Target="/docProps/app.xml" Id="R80d68c6e67d74789" /><Relationship Type="http://schemas.openxmlformats.org/officeDocument/2006/relationships/officeDocument" Target="/ppt/presentation.xml" Id="R3ca71f1a131d4a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f58502c26949eb"/>
  </p:sldMasterIdLst>
  <p:notesMasterIdLst>
    <p:notesMasterId xmlns:r="http://schemas.openxmlformats.org/officeDocument/2006/relationships" r:id="R9120fe6076b44956"/>
  </p:notesMasterIdLst>
  <p:sldIdLst>
    <p:sldId xmlns:r="http://schemas.openxmlformats.org/officeDocument/2006/relationships" id="256" r:id="R5729575bf2bf4b13"/>
    <p:sldId xmlns:r="http://schemas.openxmlformats.org/officeDocument/2006/relationships" id="257" r:id="R18fca9af4cc64024"/>
    <p:sldId xmlns:r="http://schemas.openxmlformats.org/officeDocument/2006/relationships" id="258" r:id="R9f6615cf1fc04859"/>
    <p:sldId xmlns:r="http://schemas.openxmlformats.org/officeDocument/2006/relationships" id="259" r:id="R894db0ccb2114782"/>
    <p:sldId xmlns:r="http://schemas.openxmlformats.org/officeDocument/2006/relationships" id="260" r:id="R40503ddbf6c948c0"/>
    <p:sldId xmlns:r="http://schemas.openxmlformats.org/officeDocument/2006/relationships" id="261" r:id="Rf97de25f1b054935"/>
    <p:sldId xmlns:r="http://schemas.openxmlformats.org/officeDocument/2006/relationships" id="262" r:id="R46c75e42dad747a4"/>
    <p:sldId xmlns:r="http://schemas.openxmlformats.org/officeDocument/2006/relationships" id="263" r:id="Rf097afe11f0c4897"/>
    <p:sldId xmlns:r="http://schemas.openxmlformats.org/officeDocument/2006/relationships" id="264" r:id="R7d4195ec6c2d4772"/>
    <p:sldId xmlns:r="http://schemas.openxmlformats.org/officeDocument/2006/relationships" id="265" r:id="R8a688df96571412a"/>
    <p:sldId xmlns:r="http://schemas.openxmlformats.org/officeDocument/2006/relationships" id="266" r:id="R89193ca5a89444c4"/>
    <p:sldId xmlns:r="http://schemas.openxmlformats.org/officeDocument/2006/relationships" id="267" r:id="R6728cb649e98409a"/>
    <p:sldId xmlns:r="http://schemas.openxmlformats.org/officeDocument/2006/relationships" id="268" r:id="Re4180782b1a84cdd"/>
    <p:sldId xmlns:r="http://schemas.openxmlformats.org/officeDocument/2006/relationships" id="269" r:id="R78dfde551feb4de4"/>
    <p:sldId xmlns:r="http://schemas.openxmlformats.org/officeDocument/2006/relationships" id="270" r:id="R2d03909290854dd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6abbc4f203462e" /><Relationship Type="http://schemas.openxmlformats.org/officeDocument/2006/relationships/slideMaster" Target="/ppt/slideMasters/slideMaster1.xml" Id="R98f58502c26949eb" /><Relationship Type="http://schemas.openxmlformats.org/officeDocument/2006/relationships/notesMaster" Target="/ppt/notesMasters/notesMaster1.xml" Id="R9120fe6076b44956" /><Relationship Type="http://schemas.openxmlformats.org/officeDocument/2006/relationships/presProps" Target="/ppt/presProps.xml" Id="R417c6cbc8de64316" /><Relationship Type="http://schemas.openxmlformats.org/officeDocument/2006/relationships/viewProps" Target="/ppt/viewProps.xml" Id="R4d818cd6278c432b" /><Relationship Type="http://schemas.openxmlformats.org/officeDocument/2006/relationships/tableStyles" Target="/ppt/tableStyles.xml" Id="R74def52a772d420b" /><Relationship Type="http://schemas.openxmlformats.org/officeDocument/2006/relationships/slide" Target="/ppt/slides/slide1.xml" Id="R5729575bf2bf4b13" /><Relationship Type="http://schemas.openxmlformats.org/officeDocument/2006/relationships/slide" Target="/ppt/slides/slide2.xml" Id="R18fca9af4cc64024" /><Relationship Type="http://schemas.openxmlformats.org/officeDocument/2006/relationships/slide" Target="/ppt/slides/slide3.xml" Id="R9f6615cf1fc04859" /><Relationship Type="http://schemas.openxmlformats.org/officeDocument/2006/relationships/slide" Target="/ppt/slides/slide4.xml" Id="R894db0ccb2114782" /><Relationship Type="http://schemas.openxmlformats.org/officeDocument/2006/relationships/slide" Target="/ppt/slides/slide5.xml" Id="R40503ddbf6c948c0" /><Relationship Type="http://schemas.openxmlformats.org/officeDocument/2006/relationships/slide" Target="/ppt/slides/slide6.xml" Id="Rf97de25f1b054935" /><Relationship Type="http://schemas.openxmlformats.org/officeDocument/2006/relationships/slide" Target="/ppt/slides/slide7.xml" Id="R46c75e42dad747a4" /><Relationship Type="http://schemas.openxmlformats.org/officeDocument/2006/relationships/slide" Target="/ppt/slides/slide8.xml" Id="Rf097afe11f0c4897" /><Relationship Type="http://schemas.openxmlformats.org/officeDocument/2006/relationships/slide" Target="/ppt/slides/slide9.xml" Id="R7d4195ec6c2d4772" /><Relationship Type="http://schemas.openxmlformats.org/officeDocument/2006/relationships/slide" Target="/ppt/slides/slide10.xml" Id="R8a688df96571412a" /><Relationship Type="http://schemas.openxmlformats.org/officeDocument/2006/relationships/slide" Target="/ppt/slides/slide11.xml" Id="R89193ca5a89444c4" /><Relationship Type="http://schemas.openxmlformats.org/officeDocument/2006/relationships/slide" Target="/ppt/slides/slide12.xml" Id="R6728cb649e98409a" /><Relationship Type="http://schemas.openxmlformats.org/officeDocument/2006/relationships/slide" Target="/ppt/slides/slide13.xml" Id="Re4180782b1a84cdd" /><Relationship Type="http://schemas.openxmlformats.org/officeDocument/2006/relationships/slide" Target="/ppt/slides/slide14.xml" Id="R78dfde551feb4de4" /><Relationship Type="http://schemas.openxmlformats.org/officeDocument/2006/relationships/slide" Target="/ppt/slides/slide15.xml" Id="R2d03909290854d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a71ed5674c4b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2cfb60f78b461f" /><Relationship Type="http://schemas.openxmlformats.org/officeDocument/2006/relationships/notesMaster" Target="/ppt/notesMasters/notesMaster1.xml" Id="R35aa321c519b41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94ac57b6d04571" /><Relationship Type="http://schemas.openxmlformats.org/officeDocument/2006/relationships/notesMaster" Target="/ppt/notesMasters/notesMaster1.xml" Id="R859d8be2c6c249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33380cba8f45b7" /><Relationship Type="http://schemas.openxmlformats.org/officeDocument/2006/relationships/notesMaster" Target="/ppt/notesMasters/notesMaster1.xml" Id="R9c98bf710d604b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392eb834a0486e" /><Relationship Type="http://schemas.openxmlformats.org/officeDocument/2006/relationships/notesMaster" Target="/ppt/notesMasters/notesMaster1.xml" Id="R92923717e1f744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3e9607fa63481f" /><Relationship Type="http://schemas.openxmlformats.org/officeDocument/2006/relationships/notesMaster" Target="/ppt/notesMasters/notesMaster1.xml" Id="Rcdde1f7315dd42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55096c57df4ba1" /><Relationship Type="http://schemas.openxmlformats.org/officeDocument/2006/relationships/notesMaster" Target="/ppt/notesMasters/notesMaster1.xml" Id="R49b9a2720c324d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6afb1efea44907" /><Relationship Type="http://schemas.openxmlformats.org/officeDocument/2006/relationships/notesMaster" Target="/ppt/notesMasters/notesMaster1.xml" Id="R719272be0eab49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9c41ad59f1489d" /><Relationship Type="http://schemas.openxmlformats.org/officeDocument/2006/relationships/notesMaster" Target="/ppt/notesMasters/notesMaster1.xml" Id="R1d4688f5b82648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8a592c73e248fc" /><Relationship Type="http://schemas.openxmlformats.org/officeDocument/2006/relationships/notesMaster" Target="/ppt/notesMasters/notesMaster1.xml" Id="R6435fbabd1454e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b2ee248ceb42ba" /><Relationship Type="http://schemas.openxmlformats.org/officeDocument/2006/relationships/notesMaster" Target="/ppt/notesMasters/notesMaster1.xml" Id="Rae8d388adaad45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27d69f3dec241f8" /><Relationship Type="http://schemas.openxmlformats.org/officeDocument/2006/relationships/notesMaster" Target="/ppt/notesMasters/notesMaster1.xml" Id="R5a0c74e983ce4d7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2b73d1e33b84d8b" /><Relationship Type="http://schemas.openxmlformats.org/officeDocument/2006/relationships/notesMaster" Target="/ppt/notesMasters/notesMaster1.xml" Id="Rbd0db3508c074be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55d271774d147dd" /><Relationship Type="http://schemas.openxmlformats.org/officeDocument/2006/relationships/notesMaster" Target="/ppt/notesMasters/notesMaster1.xml" Id="R9d64407185894ca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8f6703e527d4d77" /><Relationship Type="http://schemas.openxmlformats.org/officeDocument/2006/relationships/notesMaster" Target="/ppt/notesMasters/notesMaster1.xml" Id="Re94070514321410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6922d0993c44840" /><Relationship Type="http://schemas.openxmlformats.org/officeDocument/2006/relationships/notesMaster" Target="/ppt/notesMasters/notesMaster1.xml" Id="Reed4f9b43a5644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ddef45fd3149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c962ada3be446c" /><Relationship Type="http://schemas.openxmlformats.org/officeDocument/2006/relationships/slideLayout" Target="/ppt/slideLayouts/slideLayout1.xml" Id="R8fa1918dd17a45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a1918dd17a45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f5cacd3244d89" /><Relationship Type="http://schemas.openxmlformats.org/officeDocument/2006/relationships/image" Target="/ppt/media/image.png" Id="R38e7f246da8446cf" /><Relationship Type="http://schemas.openxmlformats.org/officeDocument/2006/relationships/notesSlide" Target="/ppt/notesSlides/notesSlide1.xml" Id="R12a59c3adc2541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4a43cf8564c23" /><Relationship Type="http://schemas.openxmlformats.org/officeDocument/2006/relationships/notesSlide" Target="/ppt/notesSlides/notesSlide2.xml" Id="R4cd6a38261c84d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7dd27c11e461c" /><Relationship Type="http://schemas.openxmlformats.org/officeDocument/2006/relationships/notesSlide" Target="/ppt/notesSlides/notesSlide3.xml" Id="Rebee076a3e964a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feaf30afc48b1" /><Relationship Type="http://schemas.openxmlformats.org/officeDocument/2006/relationships/notesSlide" Target="/ppt/notesSlides/notesSlide4.xml" Id="R04ee44d81cce4d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91b191b7c43f3" /><Relationship Type="http://schemas.openxmlformats.org/officeDocument/2006/relationships/notesSlide" Target="/ppt/notesSlides/notesSlide5.xml" Id="R32c525a5e4f041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9e5fb374a4e39" /><Relationship Type="http://schemas.openxmlformats.org/officeDocument/2006/relationships/notesSlide" Target="/ppt/notesSlides/notesSlide6.xml" Id="R5f7ccf24ec8447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9c6f4557984030" /><Relationship Type="http://schemas.openxmlformats.org/officeDocument/2006/relationships/notesSlide" Target="/ppt/notesSlides/notesSlide7.xml" Id="R42711760289345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cf71cc529440f" /><Relationship Type="http://schemas.openxmlformats.org/officeDocument/2006/relationships/notesSlide" Target="/ppt/notesSlides/notesSlide8.xml" Id="R95029c7160f344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7bf50e487491d" /><Relationship Type="http://schemas.openxmlformats.org/officeDocument/2006/relationships/notesSlide" Target="/ppt/notesSlides/notesSlide9.xml" Id="Rd77ae22d71d54b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4cf3b00904aa8" /><Relationship Type="http://schemas.openxmlformats.org/officeDocument/2006/relationships/notesSlide" Target="/ppt/notesSlides/notesSlide10.xml" Id="R697b17e0ab9142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2569440454bae" /><Relationship Type="http://schemas.openxmlformats.org/officeDocument/2006/relationships/notesSlide" Target="/ppt/notesSlides/notesSlide11.xml" Id="Rc3fb11a65137402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40d2d6f0e4a44" /><Relationship Type="http://schemas.openxmlformats.org/officeDocument/2006/relationships/notesSlide" Target="/ppt/notesSlides/notesSlide12.xml" Id="Rb80ee8cd7c6643a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05f6a77704203" /><Relationship Type="http://schemas.openxmlformats.org/officeDocument/2006/relationships/notesSlide" Target="/ppt/notesSlides/notesSlide13.xml" Id="R9ead5272568a416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f7fd6da63415b" /><Relationship Type="http://schemas.openxmlformats.org/officeDocument/2006/relationships/notesSlide" Target="/ppt/notesSlides/notesSlide14.xml" Id="Re00084a9a2d3424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9b0cf39dd4b75" /><Relationship Type="http://schemas.openxmlformats.org/officeDocument/2006/relationships/notesSlide" Target="/ppt/notesSlides/notesSlide15.xml" Id="R9122abcf40ac486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A481A3-390C-43A8-90AD-87B25AEC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646C4F-200F-45D8-9952-93595B95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E2F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208711-B806-4F5A-8F20-29C56EFC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超级智能体开发大赛国赛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A2AB8-CE00-42CB-9E26-0012DC7E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六百六十六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4D96A-5703-47E2-90CC-191DB29F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590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律枢 LexHub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6F6A2-C3D1-409A-A04D-ED624004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基于中兴 Co-Sight 的法律业务智能服务平台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70FA7C-284E-40BC-AAA9-468B99FF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401D93-1763-4141-9C28-4A3C95FC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81375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材料接入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415DED-9EFF-4FA3-894C-1938C06D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3375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749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E57430-5EB8-4F3D-9A46-0564EE7D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381375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法规检索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47A813-7C61-4B95-B5B6-219E49D8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3375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F5787E-B24E-46EA-8DE0-CCBD2A9C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81375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智能体协作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242C42-11A5-4992-A600-94DC25BE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33375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749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B43EB0-E367-440D-9649-8627F2E0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81375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文书交付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6841B3-31DD-4D92-9CC3-2359A372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53D25D-DEF7-4181-9E95-9CDEB1AD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81375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过程复核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e7f246da8446cf"/>
          <a:stretch xmlns:a="http://schemas.openxmlformats.org/drawingml/2006/main"/>
        </p:blipFill>
        <p:spPr>
          <a:xfrm xmlns:a="http://schemas.openxmlformats.org/drawingml/2006/main">
            <a:off x="7429500" y="1825625"/>
            <a:ext cx="3810000" cy="21590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80AC1F-E0FE-42E3-BC46-821BB4EB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10250"/>
            <a:ext cx="876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法律任务链路 · 多智能体 DAG · 可信审计 · 可运行交付</a:t>
            </a:r>
          </a:p>
        </p:txBody>
      </p:sp>
    </p:spTree>
    <p:extLst>
      <p:ext uri="{BB962C8B-B14F-4D97-AF65-F5344CB8AC3E}">
        <p14:creationId xmlns:p14="http://schemas.microsoft.com/office/powerpoint/2010/main" val="82133997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125A2B-C24E-4CFA-A379-5F7B57DD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B56BD3-13D1-4F5D-A605-67901597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21E7C-18A6-44F3-B4EB-6DAC1714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LEXHUB NATIONAL FINAL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C183F-D6B6-4DF3-AF15-AF4267F5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8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249AF-7DC5-4E67-B110-34083980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律枢 LexHub · 六百六十六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832D3-4417-46B9-9BD7-A584D5B4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业务背景与痛点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6AF98F-8F1A-43CC-826C-57BFC5D4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法律辅助任务的难点不只是“生成文本”，而是“依据可追溯、过程可复核”。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79B44A-EE52-4477-8194-94198344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95453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0EA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49EF5-0332-4FEC-9BB2-2EB86484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87833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痛点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8D713C-CD57-45A2-A40A-AEA05F8C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280" y="1809750"/>
            <a:ext cx="412623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0EA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B9CFAF-F035-46AA-8E00-80441504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380" y="1847850"/>
            <a:ext cx="405003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传统方式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861F6F-7E0F-41B0-8E03-0B78B71F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510" y="1809750"/>
            <a:ext cx="477774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0EA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FFD9F2-BBED-4657-853C-00341611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1847850"/>
            <a:ext cx="470154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LexHub 解决方式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742368-A98B-4713-A162-C5486401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95453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3CCC1-8E87-4D9B-A38E-75F60DAF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24100"/>
            <a:ext cx="187833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材料分散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870DF9-5514-444D-8CEA-8EA78C6A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280" y="2286000"/>
            <a:ext cx="412623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C89240-EB1E-4151-A5C0-D9A43814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380" y="2324100"/>
            <a:ext cx="405003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文件、聊天记录、法规检索结果分离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65620F-F90B-4BF5-994D-8A577A44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510" y="2286000"/>
            <a:ext cx="477774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7A4AD2-94A8-4E89-BB34-4065D2DD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2324100"/>
            <a:ext cx="470154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工作台统一接入任务与材料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D23A5E-E0BE-458D-8452-5E79CFF2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95453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29FD76-B72B-46B9-A41D-37F205E4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187833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依据难追溯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7CDB48-7689-4615-B485-853AFD77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280" y="2762250"/>
            <a:ext cx="412623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BC6E10-CDC6-46C6-B771-515ABDE4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380" y="2800350"/>
            <a:ext cx="405003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法规、案例、观点散落在不同来源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0A9A65-CD59-464C-BD5A-DED5292C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510" y="2762250"/>
            <a:ext cx="477774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A64DF9-5096-4120-89FA-E553BFF2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2800350"/>
            <a:ext cx="470154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法规 RAG、来源摘要和引用记录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03BB68-E749-4BBD-94D7-6FE8C6AB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95453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E6E659-AFD9-430E-B0CA-81629EA4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187833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过程不可见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E48FCE-03C1-45FE-BC0E-447734FA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280" y="3238500"/>
            <a:ext cx="412623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17507A-E4B7-435C-8D93-80385907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380" y="3276600"/>
            <a:ext cx="405003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只看到最终文本，难以复盘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CA96F1-D136-4406-9B45-CFAF78C0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510" y="3238500"/>
            <a:ext cx="477774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2A34F4-96C5-4283-8CB4-5502DA5D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3276600"/>
            <a:ext cx="470154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DAG、工具轨迹、Replay 回放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4F8960-F4B3-4566-8BF9-785B04C8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95453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1ECE6D-12DC-4E79-BA96-5D877990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187833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文书整理耗时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2499EF-C4AC-4279-8336-71670996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280" y="3714750"/>
            <a:ext cx="412623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502392-8424-4A7D-BFF7-ED172343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380" y="3752850"/>
            <a:ext cx="405003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人工整合事实、依据和模板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BD1E94-C092-4F11-8B85-031ED36D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510" y="3714750"/>
            <a:ext cx="477774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4AA3BF-8C4F-4847-81B4-F81BB362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3752850"/>
            <a:ext cx="470154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结构化报告与 DOCX/PDF 导出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B4FDAE-FF02-49B7-A543-0B5F638F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195453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45642E-099A-4788-AA06-6DD7D02E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187833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结论需复核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225CFB-C628-44A4-B884-E17D60E8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280" y="4191000"/>
            <a:ext cx="412623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B12C01-D2DE-4E6E-8108-2D3A1988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380" y="4229100"/>
            <a:ext cx="405003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依赖人工逐项检查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A17F87-113C-4F46-BC6B-AD30F85A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510" y="4191000"/>
            <a:ext cx="477774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972784-5C3C-4F51-A806-666E75C6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4229100"/>
            <a:ext cx="470154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交叉审查、审计链和人工复核入口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58DCBB-EA79-43A2-A859-F600AC3C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0"/>
            <a:ext cx="990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法律场景需要“事实、依据、过程、交付”的完整链路。</a:t>
            </a:r>
          </a:p>
        </p:txBody>
      </p:sp>
    </p:spTree>
    <p:extLst>
      <p:ext uri="{BB962C8B-B14F-4D97-AF65-F5344CB8AC3E}">
        <p14:creationId xmlns:p14="http://schemas.microsoft.com/office/powerpoint/2010/main" val="11047712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2C9075-503B-4C4A-AAC2-C19970EB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84ABC-81C1-4CF7-9AB4-8B7BB9B3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41F76-02B7-4B32-AFE0-0BACF5DE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LEXHUB NATIONAL FINAL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790C09-E97D-4E67-AA87-4445A76C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8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FA0E2A-1102-4880-A613-0C99D027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律枢 LexHub · 六百六十六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A3263-48BB-4967-8497-3759EEEE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目标场景与用户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58AE6-80CE-4AC0-AA2D-D7F003A3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面向高频法律辅助任务，覆盖律师、律所团队、企业法务与合规人员。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9AB8C-BB91-42E5-8021-D2E05497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15820F-2D16-41FA-9427-6C3B7AA5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812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劳动争议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BB5482-5BE0-4B68-BC75-015F6106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241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输入：解除通知、考勤、工资明细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57D164-EF0B-445E-B30C-6BE2D87B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输出：争议焦点 / 证据缺口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E5ABFF-B148-4F9B-9A76-1835B503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44D6AB-9FEF-499C-8996-3304CDAD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812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公司治理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C6C770-ADA5-46A5-8B4C-3F032523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241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输入：股权结构、决议、章程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5E8444-6CE8-43E5-9A64-3AB1CF7F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输出：主体关系 / 程序风险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C27335-B3E5-4C38-B5C7-1955ADE0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CEF0C6-A000-43D7-B654-D032212D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099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数据合规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3006FE-F162-400E-A160-38724827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528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输入：SDK 清单、投诉、评估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D0745C-1569-4F93-91A1-83524DA2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输出：合规风险 / 整改建议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271EE8-6A73-4D3C-9D49-56982B25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752FD2-219E-4AEE-8ED7-30757046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099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合同审查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AF3B87-C238-4359-921A-802E71F4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528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输入：合同正文、补充协议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67C301-481B-4073-B0E5-673F2F77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005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输出：条款风险 / 修改建议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0F5B08-4EF5-4BC8-A16E-A8447BC9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91125"/>
            <a:ext cx="1333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B2FE4F-D75F-492D-89A4-EA75C990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238750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个人律师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0D9EA7-D02B-41DE-89B8-980D1F1F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191125"/>
            <a:ext cx="1333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F4F020-1F04-432C-A04C-A27342B6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238750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律所团队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B47FD5-9CB6-4986-B151-1638CED1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91125"/>
            <a:ext cx="1333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4362B6-4FA4-4AC9-9F6A-BD561E1C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238750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企业法务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0D1C35-3470-43A5-B2FC-7F7A45DB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91125"/>
            <a:ext cx="1333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2BDE6B-2854-4171-9EFC-87D38E7E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238750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合规人员</a:t>
            </a:r>
          </a:p>
        </p:txBody>
      </p:sp>
    </p:spTree>
    <p:extLst>
      <p:ext uri="{BB962C8B-B14F-4D97-AF65-F5344CB8AC3E}">
        <p14:creationId xmlns:p14="http://schemas.microsoft.com/office/powerpoint/2010/main" val="116934512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2522B9-4A51-4AE8-91D3-5B7E72CD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8DC965-C5B6-44B1-B415-D7B15281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CD02A-3BFC-4BFE-9BFA-5AEA4042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LEXHUB NATIONAL FINAL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49D44-4A4F-47F2-9B4A-1AE7E8A2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8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4B382-9614-4287-8308-008CF757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律枢 LexHub · 六百六十六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C27D7-CF67-420F-8318-DC0A0914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方案总览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1819C-E308-4398-A290-77CB965A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将法律任务组织为“材料、依据、流程、交付、复核”的闭环。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CAC12D-FC12-4A63-B611-3C3D9782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E9335-01EB-43AF-ABF5-6AC17A46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3845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材料与任务输入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B78C8C-DA66-4AE9-8981-CB86122C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0025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712978-5BAE-4207-B015-74DC7F45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7645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DAG 多智能体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63281E-A29E-43C3-851B-68098BF6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6225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34A34-0997-4159-911E-04BA9DEA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83845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法律知识与工具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3B8507-697C-49EF-A0FB-186CCFD5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7675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B049BF-F91D-40D3-91E2-0836C9BD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55295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结构化成果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5DEC25-5C74-4D65-9618-060E960C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47675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7CEC68-0F88-46C6-B86F-A9A3D07D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5295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可信过程记录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A5E012-D6AF-4BC4-B159-FA2A52DC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289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B74D4F-60B4-4C83-9ADC-F6EFF491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145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FB0CA8-60A5-48E5-9354-66294DC6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62200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1AF788-E68E-4683-AEB9-D621D065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813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BA2813-ADFA-4CA2-A42A-F6219579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314700"/>
            <a:ext cx="-80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227C61-59AA-407F-ACC2-C2632095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291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D55D1E-AC1C-4728-8430-EC28E37E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762500"/>
            <a:ext cx="-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090CF1-8625-4BE9-B23F-1FFCDF03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148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9F7A38-3836-4345-946D-359DB732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476750"/>
            <a:ext cx="-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722ED8-84D1-4DCB-B057-B8C1483C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267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1A0A63-2985-4F37-8FCD-4A00DA22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290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把法律任务从单次问答组织为可运行、可复核的业务闭环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A13ED7-35C2-4041-AB9A-D69F84DF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2857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09CA9F-BCF1-408A-B9B6-A02C35E4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不是单点问答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A2165E-0841-482F-97BF-7801025E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38375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任务办理链路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2B05AA-54DC-431B-AFE0-C869EBFB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2857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630F2A-465F-4D6D-9F5A-C33E95F0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9562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可运行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681CBD-7D14-410E-89EF-B1A7B641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81375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前后端与工作流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72E7E7-51A4-4317-82CE-DC374E74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2857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9292B2-08F7-4204-A14B-AE847312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3862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可复核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E3A5A1-AB16-4927-A2EF-31BF5F07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24375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Replay 与审计链</a:t>
            </a:r>
          </a:p>
        </p:txBody>
      </p:sp>
    </p:spTree>
    <p:extLst>
      <p:ext uri="{BB962C8B-B14F-4D97-AF65-F5344CB8AC3E}">
        <p14:creationId xmlns:p14="http://schemas.microsoft.com/office/powerpoint/2010/main" val="69655842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82FA99-570C-4C3C-9E8D-79490028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2DFAC8-4DAF-4837-B6AA-1568F4F1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2DCEA-ADA3-48CE-83B5-D84A3C74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LEXHUB NATIONAL FINAL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4D6FE-1E37-49FC-9D1F-4C8B12B1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8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2A1EDB-D1D9-4389-9A90-E80460CA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律枢 LexHub · 六百六十六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262E1-9E43-4F83-BE72-60216145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技术架构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BD676-4220-44E6-AE5D-BFC7AEDD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基于中兴 Co-Sight 底座，扩展法律工作流、知识库、工具链与可信链路。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5BF0A6-43EC-4CB8-927E-6DA7FDEC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590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6EDBFC-926D-4196-AD92-B353E648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用户交互层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A4BCF-3385-409E-9F11-1C3EB2D9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752600"/>
            <a:ext cx="895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51FAC3-CC2D-46AB-9AD4-B645B11E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8288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工作台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C7DB49-5887-40E2-90DA-C0501860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752600"/>
            <a:ext cx="895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A69057-EEFD-49CE-AB6A-CE123ACC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288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结果页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FAE7A0-294F-417C-BF20-42C228B8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52600"/>
            <a:ext cx="895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CBFDC5-4B61-4E9C-B661-9EBC46ED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288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回放页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6DBD2B-CFAC-4734-BC1F-DA1805A4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752600"/>
            <a:ext cx="895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36512C-B7EA-4D01-8D39-529D5ACF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288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管理端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ADD14A-9DB6-4863-ABE0-337F6B2F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28850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E8BA75-653D-4978-88E0-AEECAF7D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590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BB7564-B45C-4EC8-BDD0-12D26E3D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289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后端服务层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2FBB20-4FC0-4F00-8228-8447E787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590800"/>
            <a:ext cx="895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996A2E-8142-47EF-8F21-6B5EB2AB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6670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DA2D3D-C180-4431-9BFD-1D03EF83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90800"/>
            <a:ext cx="895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356AE7-3494-4C5B-88E6-7ED5B031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670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上传接口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5845CF-5816-4200-AC9A-70BCB3B4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90800"/>
            <a:ext cx="895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E92C7C-B8F0-4B42-9D43-72EE1062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670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导出接口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FF217C-C93D-4EB5-8A42-63CC18A0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90800"/>
            <a:ext cx="895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EFD0EE-814E-47D6-B3AC-96B930FE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审计接口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939BA2-E87B-411C-B50B-8B3CEB92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67050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4AC81B-D514-4C15-8362-FECB0D22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590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D1FEB3-32C3-4D27-8204-BD2C8647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智能体编排层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9F8C7B-D1FC-4B38-88C4-02718A28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429000"/>
            <a:ext cx="895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853F8E-D3D2-42D2-9461-953CB9C1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5052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Co-Sight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319BC9-AA31-4A4E-9F8F-3ED3DF08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429000"/>
            <a:ext cx="895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449D87-FA92-4A88-88D7-AC02F92A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052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agent-registry.json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D557F9-D001-4B2E-A9A8-4B634AA3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29000"/>
            <a:ext cx="895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73DD90-89B2-40F9-B063-E8726AA2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052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legal-workflow.json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0D23C1-0075-4664-B607-6985326D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05250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42D8ED-2736-4687-911D-EE29A2DC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590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AB891B-0C98-4B0B-BCCA-D6429C59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053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工具与数据层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E816E6-2C65-4289-B3E5-382B7B27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67200"/>
            <a:ext cx="895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7BD92B-3653-4277-AB0E-1C0330EA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3434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法规 RAG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645659-2F7C-464A-95FF-23146F84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67200"/>
            <a:ext cx="895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23F480-F638-4618-A4E0-895F0CBA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3434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搜索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FF924BD-E9ED-4222-946C-AB49DC5E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67200"/>
            <a:ext cx="895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C546D45-EC23-494A-894A-1468D764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434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文档处理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430E6F4-29E1-4946-B2D3-B4291C32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267200"/>
            <a:ext cx="895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8E1E537-164D-4F1E-B394-230A8A43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434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Replay / Audit Log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62F963A-7F7B-4345-9A6C-E7149625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66875"/>
            <a:ext cx="106870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0EA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616CA93-4A40-4533-8DD5-2ED50F25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04975"/>
            <a:ext cx="99250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层级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3524AD1-4FB3-480F-A918-F03972E7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0205" y="1666875"/>
            <a:ext cx="207454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0EA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2D2863B-C340-453D-96DB-1288C9D0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8305" y="1704975"/>
            <a:ext cx="199834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内容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E1A835A-C5F5-4E6B-BE68-5EF5681F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81225"/>
            <a:ext cx="106870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D12F04B-391C-46E9-8C35-8CF8C026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19325"/>
            <a:ext cx="99250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用户交互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DA03D65-770F-479B-82CC-36776CF0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0205" y="2181225"/>
            <a:ext cx="207454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F7CA1D3-3C06-4D2B-95C1-9CA546C0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8305" y="2219325"/>
            <a:ext cx="199834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工作台 / 结果 / 回放 / 管理端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C989B62-D695-42DF-B5F3-75978A48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95575"/>
            <a:ext cx="106870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9560B6A-2EBC-41AF-9D2C-E5CBC7E5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33675"/>
            <a:ext cx="99250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后端服务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AF20C16-2AC5-4A7B-923B-7887541C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0205" y="2695575"/>
            <a:ext cx="207454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4807BB7-499D-4174-BF16-3FD571D3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8305" y="2733675"/>
            <a:ext cx="199834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上传 / 知识库 / 导出 / 审计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73E7A56-3698-4314-B74B-8E5E57F6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09925"/>
            <a:ext cx="106870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DBCEAEC-609D-4840-9F34-32A79BAA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48025"/>
            <a:ext cx="99250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智能体编排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DC5DE94-BA9F-4568-B74D-F50B7FF9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0205" y="3209925"/>
            <a:ext cx="207454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11FD92F-F98C-41B6-AC70-9368E860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8305" y="3248025"/>
            <a:ext cx="199834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Co-Sight 多智能体 / DAG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1F71F98-389C-4516-8FD3-6FEC86B2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24275"/>
            <a:ext cx="106870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D871E67-260F-4211-A0C8-FD413BE9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62375"/>
            <a:ext cx="99250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工具知识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81313C6-7787-426C-8F5A-9C90648D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0205" y="3724275"/>
            <a:ext cx="207454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29231E6-EC55-4984-A4F0-04879D3D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8305" y="3762375"/>
            <a:ext cx="199834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法规 RAG / 搜索 / 文档处理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ABC43F3-BE0E-4210-8CF6-E1C475A1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38625"/>
            <a:ext cx="106870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9774D8F-6FB7-4A1E-907A-D0A68965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76725"/>
            <a:ext cx="99250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可信数据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3AAE5AC-4F77-427A-AC25-AC3D9583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0205" y="4238625"/>
            <a:ext cx="207454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3FA8E3A-CFB6-4EA7-95FA-C419AE8D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8305" y="4276725"/>
            <a:ext cx="199834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Replay / Snapshot / Audit Log</a:t>
            </a:r>
          </a:p>
        </p:txBody>
      </p:sp>
    </p:spTree>
    <p:extLst>
      <p:ext uri="{BB962C8B-B14F-4D97-AF65-F5344CB8AC3E}">
        <p14:creationId xmlns:p14="http://schemas.microsoft.com/office/powerpoint/2010/main" val="162412060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95C8A7-816C-450C-B46C-8E31A9A7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3978B3-2843-48ED-ACF5-5F95E574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C35A54-5AE9-47F9-9AAB-0314C78A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LEXHUB NATIONAL FINAL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85D9F-B572-4179-B2F6-7AE9ED0A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8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C3B4A-C579-447C-B2E7-DF1A8932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律枢 LexHub · 六百六十六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E10E1-1D14-40AD-9D2D-0269F7B4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Co-Sight 改进对比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04D25F-239A-438A-ABC3-FCDEF513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不是界面改名，而是在通用智能体底座上完成法律业务化封装。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D86876-E6EA-4AF3-AFED-974BED6F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190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0EA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B684D1-E48D-4A5A-AFA3-1A75C841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2114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对比维度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711A27-2A27-4166-ABB9-2405605C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695450"/>
            <a:ext cx="37242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0EA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C06D54-461E-4485-83E4-BF401310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33550"/>
            <a:ext cx="3648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原生 Co-Sight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F96992-AD3A-429E-A517-CF6B4E2E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95450"/>
            <a:ext cx="503872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0EA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6D63D7-CD96-4CFE-8F65-46317FED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733550"/>
            <a:ext cx="49625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律枢 LexHub 改进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F0B815-E524-421D-BE79-951299D3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2190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4EF51D-7B73-4361-AF18-CBDC6535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2114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产品定位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183D2F-AAB2-4BBA-BD12-8B94C510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09800"/>
            <a:ext cx="37242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7E3664-B2EA-4007-80DF-B71BDCE4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47900"/>
            <a:ext cx="3648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通用超级智能体框架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D2DFAE-9535-4BCF-B3E3-0635095D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09800"/>
            <a:ext cx="503872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49613A-4625-429C-91AD-8621E529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247900"/>
            <a:ext cx="49625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面向法律业务的智能服务平台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923530-B453-48F7-B38F-71656853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2190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CF0CB0-1586-4093-B284-ADB7EA5B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2114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任务流程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E9C2AF-FC7B-4592-9119-F5528327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24150"/>
            <a:ext cx="37242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5F1347-D984-4354-A75C-11EB83AE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62250"/>
            <a:ext cx="3648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通用 DAG 与执行链路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EB0BB0-B373-47B7-8B4C-4BD1983E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24150"/>
            <a:ext cx="503872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333F54-946B-4DCB-B590-DFED363A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762250"/>
            <a:ext cx="49625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法律任务 DAG、条件触发、导出前复核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754001-A63E-46E9-9B6B-F68DEEDA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190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91A68A-5B62-4D01-9B6E-AECA61C8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2114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智能体角色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5A5E6F-C9F7-430D-A9C0-71C81772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38500"/>
            <a:ext cx="37242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AFDDE3-3A83-40D6-933B-FF99CC44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76600"/>
            <a:ext cx="3648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通用 Planner / Actor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47B48D-D471-48EE-8EA5-29D10023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38500"/>
            <a:ext cx="503872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43E73C-7AE9-43E4-A8A3-C3142057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276600"/>
            <a:ext cx="49625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任务理解、证据质检、法规研究、交叉审查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ECDC40-E9BC-4E10-A554-273A1EF0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2190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44F5FC-EC2A-4370-BECC-467A77EB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2114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工具体系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33648A-E568-4175-B528-C210E670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752850"/>
            <a:ext cx="37242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FA2343-F246-47D0-9FFF-C06B8F47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3648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搜索、文件、代码执行等通用工具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1496B9-60A9-479C-95C9-B41E841D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752850"/>
            <a:ext cx="503872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BB850B-FC7B-406C-B3D6-FFCB9DF6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790950"/>
            <a:ext cx="49625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法规 RAG、材料库、文书导出、审计日志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A467A1-B6C7-4982-AD94-DF7B6C0A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2190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18EE90-0358-45FC-9FCA-1E7E0ED3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2114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展示交付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A69F7A-255E-4922-9E72-4C005D64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67200"/>
            <a:ext cx="37242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BC2A2B-B546-4E40-8282-6BE876A4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305300"/>
            <a:ext cx="3648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执行过程和 replay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E4C07B-27BD-4723-A79D-F8FBCC56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67200"/>
            <a:ext cx="503872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9343C0-1D12-4627-97DE-142C3153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305300"/>
            <a:ext cx="49625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工作台、结果页、Replay、DOCX/PDF、管理端配置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5F8FD47-5D89-47EB-9D5D-5E94F3AF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57800"/>
            <a:ext cx="971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保留底座能力，新增法律工作流、知识库、业务页面和可信交付。</a:t>
            </a:r>
          </a:p>
        </p:txBody>
      </p:sp>
    </p:spTree>
    <p:extLst>
      <p:ext uri="{BB962C8B-B14F-4D97-AF65-F5344CB8AC3E}">
        <p14:creationId xmlns:p14="http://schemas.microsoft.com/office/powerpoint/2010/main" val="133533466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55F667-B5DD-4A9E-8C8C-E59EAB98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DA42C-7FC5-4175-82F7-F8815D47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8AFBB5-5F7D-47A6-AA91-4072CB75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LEXHUB NATIONAL FINAL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F8143-A29E-4C66-A36E-DCE15B88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8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7E7CB3-C850-4265-94C2-E325B2E8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律枢 LexHub · 六百六十六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CE6A19-5374-4D94-9179-B573458C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智能体角色分工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F9AEB8-6468-4B52-AEFB-F684F917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将法律任务拆给不同智能体处理，避免单一模型一次性给出不可复核的结论。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C583BF-F4C1-4640-ABA8-82C9A2CA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781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35508-DE9F-4CE5-8E40-7C10CA0F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628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任务理解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318E6B-05B5-498B-B6BC-22937744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8135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779758-ABC4-4A8C-8310-F82F4A8F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337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3A8272-F604-4B81-A594-57E690E2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952750"/>
            <a:ext cx="781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A95AC3-6515-4D59-B7EA-A3D6F48B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028950"/>
            <a:ext cx="628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证据质检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936501-EDDA-4C27-BD03-37B6E8F6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8135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ADDB8C-4301-4E20-B413-350C6976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337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9D1548-506B-41AF-8E70-24A8BB2D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52750"/>
            <a:ext cx="781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FD80D7-65F3-47BD-A995-9E748B54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28950"/>
            <a:ext cx="628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法规研究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9CA323-A194-48D8-8E8F-F79253DA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8135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79F056-AB01-44B3-888A-93C996CB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337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835DDB-887E-41CC-8C49-E31005C9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52750"/>
            <a:ext cx="781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C73E00-156C-42F7-B1B3-08061373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28950"/>
            <a:ext cx="628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文书生成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996309-D04E-41E7-B1AF-33F4657E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8135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7A88DF-0287-4192-9DCC-6DA6C0B2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337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D6BD2E-536D-401E-8C91-94A2B6DB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52750"/>
            <a:ext cx="781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624446-C91C-47F0-A4A1-F4FBCB42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28950"/>
            <a:ext cx="628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交叉审查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6AD133-0459-4C3A-97B4-716D8FF7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952875"/>
            <a:ext cx="876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A6016B-BBCB-48A4-9F23-52A951A8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029075"/>
            <a:ext cx="723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合规监测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491740-BEBD-43EC-B833-38862D5A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52875"/>
            <a:ext cx="876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FF87A1-DB03-4770-8171-FFB06CF1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29075"/>
            <a:ext cx="723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审计归档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97DF32-7D1A-43D2-AB99-FED29684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09950"/>
            <a:ext cx="-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69C062-A4E6-40F9-90B9-1586DD57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05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5C7DFA-CD9B-4080-9333-D4BD9B25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18147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2440E5-C09A-4316-98D1-D11FE572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133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E9F118-73C4-4397-B29A-FA43EB43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581150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0EA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CA0295-61C4-40E5-8539-3FFEB398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192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智能体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0F6A7A-9CE4-4A1F-99F3-9750A989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581150"/>
            <a:ext cx="1028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0EA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8C6A55-9116-46B0-86A9-69CEB0DD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6192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角色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8FF7E1-A154-4A50-B5EF-2AE14C04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1581150"/>
            <a:ext cx="18002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0EA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C65A33-27F4-433F-BE53-3AD3C73A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619250"/>
            <a:ext cx="17240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职责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66FD05-7454-47A6-8113-450D7C4E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81200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F6ABE7-2A87-4CAB-AA92-38C38586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1930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任务理解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0038AF-7806-463D-8DE2-CFCFC3FC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981200"/>
            <a:ext cx="1028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F998A9-C950-49D5-BE12-88234B98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193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调度者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9452AC5-79C3-4A67-8AEE-57C54BAA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1981200"/>
            <a:ext cx="18002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1BCDCEA-CEE7-464C-9FCE-B2B89BFC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019300"/>
            <a:ext cx="17240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场景识别、DAG 计划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E87FB2F-267C-4F17-8CF9-56649972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81250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214916C-48D6-4D88-AB88-653826CA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193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证据质检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A40D71-11B3-426C-931B-060A25C4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381250"/>
            <a:ext cx="1028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ED12CFF-5A2A-4536-A7CA-31EE30D5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4193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工作者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3ABB93F-CE5B-44DB-A8EF-46A7D339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381250"/>
            <a:ext cx="18002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13265A3-2804-4E05-B9AD-48B1BAEF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19350"/>
            <a:ext cx="17240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材料清单、证据缺口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EE1839E-D51A-4032-B494-BC8378F4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1CA4ED5-EBBA-4DCF-B69B-5638529D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1940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法规研究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0058A7A-1C4C-4718-B6E2-AF2FBE6F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781300"/>
            <a:ext cx="1028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7DA0FBA-D3CD-45C7-854C-E3EFFE05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8194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工作者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D74C5DB-7A62-45B4-B5C6-A741FA1F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781300"/>
            <a:ext cx="18002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02BDC3F-1FD5-48BE-8767-C17BC0E1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19400"/>
            <a:ext cx="17240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法规检索、引用溯源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DCFB895-1DE2-486B-A8DE-ACD13EFC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81350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0DC2EE7-DA69-4980-85C2-F52F0547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194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文书生成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79BD185-F909-4189-A060-8C7E7687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181350"/>
            <a:ext cx="1028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01C88C9-B063-4D56-8380-497EC391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2194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工作者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8B970C4-2A40-4CA1-8F7F-9DCA02EC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181350"/>
            <a:ext cx="18002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7042504-DEE4-46B0-AC85-CD40E838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219450"/>
            <a:ext cx="17240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报告与初稿生成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975DF84-CBDC-4FD0-976A-C090A14E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81400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42B1698-B656-4E58-8505-9E41B80F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1950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交叉审查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5C217B3-6392-4490-8163-1405855D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581400"/>
            <a:ext cx="1028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22C7644-C8B3-49BE-A5EE-9A5F5203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6195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审查者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D3025C8-6491-4827-A4F4-CFEF0DDF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581400"/>
            <a:ext cx="18002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9B085EB-FDF1-490A-9CA4-5EBA922A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19500"/>
            <a:ext cx="17240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一致性与风险标记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54E7C7E-9EBA-48FA-8FF6-641A6E55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81450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5AFEF95-60A9-407D-A5C4-2BE11BBA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195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合规监测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90B9C38-A846-4716-A4AC-8EB5093F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981450"/>
            <a:ext cx="1028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9688925-AF03-409A-AB8F-EB97662B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0195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审查者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374BA72-CF10-4D66-985F-6E686435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981450"/>
            <a:ext cx="18002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2B21CE8-596E-49F6-B4F7-C880601F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19550"/>
            <a:ext cx="17240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审计链与合规提示</a:t>
            </a:r>
          </a:p>
        </p:txBody>
      </p:sp>
    </p:spTree>
    <p:extLst>
      <p:ext uri="{BB962C8B-B14F-4D97-AF65-F5344CB8AC3E}">
        <p14:creationId xmlns:p14="http://schemas.microsoft.com/office/powerpoint/2010/main" val="3965193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130FFA-D19B-4307-8AB9-165CBE45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C966E0-0B56-42E1-B0E4-FE5AD249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8A6CA-6D13-4D67-A3C8-4212FAB5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LEXHUB NATIONAL FINAL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A34A7E-99ED-4904-8B0F-E7BD4EE4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8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B7AC3-0184-42FD-AFD2-BE3F22A9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律枢 LexHub · 六百六十六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95DE5A-F172-4B9A-AEAF-263B7D11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法律任务 DAG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C8D17-46D5-4BF2-8BE0-042050A3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用 DAG 管理法律任务阶段、触发条件和导出前复核。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05CF4-0D6C-4BF5-9EA5-C5DD4C82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876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F73AA-7BD1-4758-A243-BC2429BD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72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任务输入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56CE76-42BB-4004-814B-010070EF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38375"/>
            <a:ext cx="95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78FF76-00E2-4FE6-AD55-AA2893B4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314575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证据质检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C0417E-8DE1-490B-BF9C-8B1F14A8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76625"/>
            <a:ext cx="95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CDF530-ED27-4898-BFB8-F290F23C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552825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法规研究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A46CD4-B6B2-42FF-9E21-D62AFC6A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95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B751D1-3605-46AD-A702-F15D2CD0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337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文书生成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18F1C0-2418-4F87-A0D9-E9A1CC96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57500"/>
            <a:ext cx="95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B91AF6-BA9F-47E3-8371-17A5476D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9337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交叉审查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D10CA6-E00F-4776-A8EC-5792ECE6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00500"/>
            <a:ext cx="95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53C5C4-ADBC-4AED-BBE7-E3241A9F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767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合规监测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85487E-A794-4AAE-BF8F-EBD3A0DC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0"/>
            <a:ext cx="876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1774E4-8A70-4ED0-9641-2B00F6AC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05200"/>
            <a:ext cx="72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导出交付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454DEC-3772-40F8-BE9F-2F77FB0C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0670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443793-F6FA-4647-AFAB-994C4213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4098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579FF1-C722-4653-A83B-363A7313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1242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35736D-86FF-4127-9CD2-A7D6B97A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48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9C9D71-93A9-4448-BBF4-2A298485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57450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AB4149-8A4F-49BF-A278-C8FD62CE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622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8D22F5-B6E7-4110-AD72-02E77EAA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95700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B6A8DB-64D2-43BC-BA09-CD35966E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765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53B9DB-C52B-492F-BADB-EA7A23F2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8610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E707AE-718F-4CE2-8897-F9CB49AB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038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CE3129-098B-4FA2-8FBD-07F19DCC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1470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6B3526-2D0B-4746-9F7E-CDF23D08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528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16D24E-C866-4180-B0A1-51DC9E6E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10050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85C0D6-2006-464C-BAA3-DB3F56B4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195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D82D77-C30C-4B12-B9AA-955FEDA6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09750"/>
            <a:ext cx="2286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B66675-2BE0-4EC7-BD34-61106633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431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条件触发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A44720-64C7-474A-9E63-837DA32B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4790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材料完整度 / 引用覆盖 / 风险等级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3BD47D-DDF3-4EDF-B0DA-DC11893A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28950"/>
            <a:ext cx="2286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DB242A-B1D2-49CA-B6C9-A19FBD49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623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强制复核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14F8B5-9AE2-4D3F-ADAB-AE061613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6710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交叉审查 / 合规监测 / 导出前校验</a:t>
            </a:r>
          </a:p>
        </p:txBody>
      </p:sp>
    </p:spTree>
    <p:extLst>
      <p:ext uri="{BB962C8B-B14F-4D97-AF65-F5344CB8AC3E}">
        <p14:creationId xmlns:p14="http://schemas.microsoft.com/office/powerpoint/2010/main" val="214135101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D4AC46-0759-44AD-9C05-1CBD03DA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63ECAC-5BB5-4D81-9965-E51E20BF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FBD72-BA63-4FE5-B020-C5B697D5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LEXHUB NATIONAL FINAL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5F595-31D1-4635-A950-C87BBD24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8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07CC4-AFDC-4388-B8BF-E86E53D1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律枢 LexHub · 六百六十六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A54F36-E8BA-44AA-AF6C-122AE6C3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功能演示：任务执行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8F1F4-1F3C-42DB-9DBB-9E6D9DED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从任务提交到 DAG 执行，展示系统已经跑通完整任务链路的前半段。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A0783-6F57-4AB1-B5C7-E92E371E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6210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63F7E1-0D04-4A49-96B7-EE26153E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09725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A0A67-D68E-488F-92A3-46C03457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695450"/>
            <a:ext cx="542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28440-3EF3-4818-B102-E7DC6A26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478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BBF59B-DAD0-4214-BDAA-67CA30AB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56210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1B174A-71EF-46C3-BC4F-6C4FE978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609725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工作台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341C10-3452-47C4-B7F5-A7036288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95450"/>
            <a:ext cx="542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049075-A0C6-43CB-B4CE-0EAA69CA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6478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D230E8-9015-4BF2-B629-8A66892B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6210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70891D-9C00-4F83-93D8-386418D1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609725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上传材料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362567-10BC-47C3-9015-DAE998E2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95450"/>
            <a:ext cx="542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DF2535-191E-427B-9185-042B6C5A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478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42DBB9-13E0-4053-ABF4-DE65B375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56210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4BC599-8F7D-48FF-94CA-AAEEB6E9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609725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提交任务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9850D5-3551-423F-A3F5-8CCC99FE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95450"/>
            <a:ext cx="542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787AD6-3317-4369-892C-478587E0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6478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114C28-244A-4C98-9BA4-D044B9D7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6210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EA9EE8-2B9D-4C39-95D4-95D501F2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609725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DAG 执行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272C9F-E270-4981-BE92-486D31D4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4953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22EF68-A9FC-41F7-B3FD-6E19A52E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495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5D0AE9-2C9D-4CD0-8A33-D653105E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472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工作台任务提交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5798DA-BD17-419F-B2CB-37A267B3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95675"/>
            <a:ext cx="449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场景选择 / 材料上传 / 任务描述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017E4D-1F4E-4699-8340-24547544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43450"/>
            <a:ext cx="449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45309"/>
                </a:solidFill>
                <a:latin typeface="Aptos"/>
                <a:ea typeface="Aptos"/>
                <a:cs typeface="Aptos"/>
              </a:rPr>
              <a:t>真实截图替换区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D23F60-5A5D-409A-B8A5-ED6CD7A7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4953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51D0D9-F0EF-415B-9B50-4A523494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495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E7429A-9097-4D9B-BA09-4E983D01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47900"/>
            <a:ext cx="472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DAG 执行与工具轨迹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B88249-3FBA-4C6F-87A8-EEF93BA0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95675"/>
            <a:ext cx="449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阶段状态 / 智能体 / 工具调用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04153A-C0EC-4453-BDA6-FB8BB6C5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43450"/>
            <a:ext cx="449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45309"/>
                </a:solidFill>
                <a:latin typeface="Aptos"/>
                <a:ea typeface="Aptos"/>
                <a:cs typeface="Aptos"/>
              </a:rPr>
              <a:t>真实截图替换区</a:t>
            </a:r>
          </a:p>
        </p:txBody>
      </p:sp>
    </p:spTree>
    <p:extLst>
      <p:ext uri="{BB962C8B-B14F-4D97-AF65-F5344CB8AC3E}">
        <p14:creationId xmlns:p14="http://schemas.microsoft.com/office/powerpoint/2010/main" val="34515425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7B632D-D665-49AD-9C61-DEEC331A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531C0-7E4C-43DB-8F6D-AFE454A4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119E3B-8FD3-440A-9BC2-BA3F4EB5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LEXHUB NATIONAL FINAL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A100D-DFD1-40E8-AB0D-2BC4F24E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8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443CBA-E263-40E0-BECA-A124527C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律枢 LexHub · 六百六十六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9F60AF-E641-4982-8F60-52389B94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功能演示：结果交付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30C50-A3AB-488F-BCBC-6A1B198D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从结构化结果到文书导出和 Replay 回放，展示系统的可交付、可复核能力。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E9BDF-962A-475F-AF1F-299124B9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62100"/>
            <a:ext cx="1333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0BCEF6-AA4A-4E39-A8D6-1F90AE57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609725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结果页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EF3A00-9BD5-4C04-83D9-999A3088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562100"/>
            <a:ext cx="1333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69F432-278A-466D-8E2D-C65D4388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609725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文书导出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60B47F-2B3F-4D13-8BB7-BACBF70B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62100"/>
            <a:ext cx="1333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E3DC97-E00C-43B8-AEB2-0DD84A36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09725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Replay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F316C7-EE00-4C57-96CC-2D8AC17E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562100"/>
            <a:ext cx="1333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ACC180-C904-425F-80BA-B71853DA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609725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管理端配置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135166-ADD4-47C3-8CFD-2FAEECB7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4953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557BE5-1254-4359-9D34-327A99F0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495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5AAEED-A59B-4398-BCBC-A4F49760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472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结构化结果与文书导出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08572D-D2BF-4BD1-A073-FA451E18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95675"/>
            <a:ext cx="449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法规依据 / 风险提示 / DOCX/PDF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8D58D5-DDBC-45FB-B696-FBB3ABE8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43450"/>
            <a:ext cx="449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45309"/>
                </a:solidFill>
                <a:latin typeface="Aptos"/>
                <a:ea typeface="Aptos"/>
                <a:cs typeface="Aptos"/>
              </a:rPr>
              <a:t>真实截图替换区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75C85E-2339-4E6B-81F9-F871F1FC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4953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15B8EE-DBBB-4C0E-B03E-9283005F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495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90D68E-8E79-4743-87BE-1D71ADB2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47900"/>
            <a:ext cx="472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Replay 回放复核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AE7D22-B945-440E-B0AA-1BCEB560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95675"/>
            <a:ext cx="449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阶段回放 / 工具轨迹 / 审计摘要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8BA3A0-9ACB-41CD-BAB3-D33A763E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43450"/>
            <a:ext cx="449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45309"/>
                </a:solidFill>
                <a:latin typeface="Aptos"/>
                <a:ea typeface="Aptos"/>
                <a:cs typeface="Aptos"/>
              </a:rPr>
              <a:t>真实截图替换区</a:t>
            </a:r>
          </a:p>
        </p:txBody>
      </p:sp>
    </p:spTree>
    <p:extLst>
      <p:ext uri="{BB962C8B-B14F-4D97-AF65-F5344CB8AC3E}">
        <p14:creationId xmlns:p14="http://schemas.microsoft.com/office/powerpoint/2010/main" val="142081446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96D69D-131F-4907-BD8F-81FC84F7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832253-2392-4EC3-A7FE-52A54434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BE7A28-100D-4E10-8AAC-CE34F8F9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LEXHUB NATIONAL FINAL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4F74D-40A3-4747-9190-CCE840F4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8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011BB-A52A-4457-BCCF-52F323CD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律枢 LexHub · 六百六十六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8EDC52-F58C-4496-92DA-A8BB899F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法律知识与工具集成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8EC783-D319-4AFE-A040-165EA88F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法规 RAG、联网检索、文档解析与导出工具共同支撑法律任务。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E68F4-856C-455C-94F7-63497A46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857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0BF760-7328-463B-B87B-0D45C42B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上传材料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E4AD5-11D1-403A-BD1F-D7FA4192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623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C3E868-E26E-4ABF-8C7A-32EDE468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3147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36828-313F-4429-BB6F-C3103A00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43250"/>
            <a:ext cx="857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61DFA3-5935-47D8-889A-A8B47C89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19450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法规 RAG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76CFBC-7392-4055-AB97-2AC2F4E2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623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503E1-0A59-48CA-BC47-27713BDF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147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DC8B76-9714-4DF3-81CD-88557FE5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43250"/>
            <a:ext cx="857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C20869-8D96-4787-AF0C-B1EDD7E7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19450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检索结果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AA2442-E8F9-4C88-905C-7E570427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623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E5628F-1B24-48A2-ADB6-CE148DEF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3147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53AC86-A26F-42E1-9921-38FAB4C5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43250"/>
            <a:ext cx="857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6D714D-6B0F-4A23-9321-6E67E22F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19450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工具调用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343242-411A-43FB-855D-BF046940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623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BD4C76-FE96-4360-A703-212DD68E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147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8BE283-E886-434F-8664-83AAE9D9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43250"/>
            <a:ext cx="857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1E4CF0-CE93-4E29-85AD-40D53E36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219450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文书导出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C75362-0298-43B2-B476-EE259887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143125"/>
            <a:ext cx="857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F65904-B297-4FF9-AAA3-7CAC9FFE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219325"/>
            <a:ext cx="70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国家法律法规数据库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FEFBD9-617C-4323-AFDD-1D1F5C64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43125"/>
            <a:ext cx="857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CD73B8-F689-4206-AB64-D2435F00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19325"/>
            <a:ext cx="70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行政法规库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6AAFF2-056F-44B0-9F56-9D865A9E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43125"/>
            <a:ext cx="857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4987A2-A598-4305-AA52-2ECD3752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19325"/>
            <a:ext cx="70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指导案例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B851A6-2CE8-4B44-A8B7-4EDF0AA6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43125"/>
            <a:ext cx="857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05F789-685C-41DD-A459-97B84F07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19325"/>
            <a:ext cx="70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本地知识库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94677D-572C-47BD-AFAD-10E387CD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52700"/>
            <a:ext cx="19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60EA81-0F76-4756-9047-90DD731E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147447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0EA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7B8CBC-7F54-4B23-A9A8-82AFA607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657350"/>
            <a:ext cx="139827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工具类别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013904-D102-4EB7-82E2-C0411944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3470" y="1619250"/>
            <a:ext cx="262128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0EA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2AE375-763F-4D1B-8A6D-E316ED3B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570" y="1657350"/>
            <a:ext cx="254508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作用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70A4FC-1FF9-410E-89BC-FA01C62A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71700"/>
            <a:ext cx="147447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04262F-6C66-4BB8-86D5-0C24F1A5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09800"/>
            <a:ext cx="139827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法规 RAG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8AA673-9577-4316-9CDD-42884AA6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3470" y="2171700"/>
            <a:ext cx="262128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14681C-25E8-4117-A05B-522A31D9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570" y="2209800"/>
            <a:ext cx="254508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法规、规则、模板检索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ADFF0D-BDA3-4556-89BC-688EBBD9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24150"/>
            <a:ext cx="147447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7C042A-BA64-4359-97D1-B18CD9FA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62250"/>
            <a:ext cx="139827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联网搜索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B5B4CE3-DE0D-4CA6-96A0-4489E145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3470" y="2724150"/>
            <a:ext cx="262128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03D6941-81DB-4BAE-9107-F081FE0B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570" y="2762250"/>
            <a:ext cx="254508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补充公开政策材料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1B6EBFD-15A0-454C-977C-E29183CB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76600"/>
            <a:ext cx="147447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130E877-ED96-443D-9F93-1CE198DC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14700"/>
            <a:ext cx="139827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文档解析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694B1D1-F00B-4F90-8FDE-CE1BEDA3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3470" y="3276600"/>
            <a:ext cx="262128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14F8176-4894-4A24-A464-0371DF7D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570" y="3314700"/>
            <a:ext cx="254508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抽取上传材料关键事实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C9B5572-E876-41DD-B43D-E9120E2E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29050"/>
            <a:ext cx="147447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9D9514C-5DAC-45FA-ACF5-61C6C791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67150"/>
            <a:ext cx="139827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文书导出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D6FC068-4EA3-4888-95D0-E65EEF88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3470" y="3829050"/>
            <a:ext cx="262128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410E217-F554-488B-ACAD-55E852AE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570" y="3867150"/>
            <a:ext cx="254508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生成 DOCX/PDF 初稿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EB9FA63-8877-47D9-810E-B4DC3845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81500"/>
            <a:ext cx="147447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F91F3C0-4076-4DB8-8D73-9128CF09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19600"/>
            <a:ext cx="139827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审计写入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6AB9FEF-9BEE-49E6-9ACF-CE5CE5EC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3470" y="4381500"/>
            <a:ext cx="262128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4811355-6903-4CD8-8E96-F626CED7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570" y="4419600"/>
            <a:ext cx="254508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记录阶段状态和输出摘要</a:t>
            </a:r>
          </a:p>
        </p:txBody>
      </p:sp>
    </p:spTree>
    <p:extLst>
      <p:ext uri="{BB962C8B-B14F-4D97-AF65-F5344CB8AC3E}">
        <p14:creationId xmlns:p14="http://schemas.microsoft.com/office/powerpoint/2010/main" val="200548132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B1E326-6060-47CD-80F5-F9C83BE7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C2E01-829C-4EA1-A9A7-B5CAFE7B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B8402-C57E-4079-8947-28B0D4D9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LEXHUB NATIONAL FINAL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12408-16DD-4A19-BE7A-18ACDCAC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8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E517D4-4847-43A7-8E98-D259DF09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律枢 LexHub · 六百六十六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D31444-7D0B-4308-8CD5-AEE7B6B2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可信安全与可复核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FD1F45-C3BF-490B-8AA6-0C4CEA8E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法律结论需要能够回到材料、依据和执行过程重新检查。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062C98-3788-4BE4-86D6-00DC8C01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7429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926134-31D5-4025-8EF9-B004ED96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14700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任务输入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426F3-4F32-491F-A1FF-ACAAD43A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4805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F50465-50E1-49F7-9997-B204ABEA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00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88C1DA-17AE-4884-91D0-EC21A573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238500"/>
            <a:ext cx="7429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E3A4C8-DB08-4EC2-9B9B-5979A929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14700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DAG 阶段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104655-D48F-43A9-952D-6CE85946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44805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A3E10A-74CC-4CBF-9F40-47471DA6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400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690439-DEE8-450F-9229-F1038B91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38500"/>
            <a:ext cx="7429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06A764-170B-461D-A5E7-A6B935A9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14700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工具调用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849C23-05BA-4066-89C3-DD1C857B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4805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770583-AC30-45C6-A4BF-F9D9DBF3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00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3A5BFA-D1ED-44FB-8E7E-D274035D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38500"/>
            <a:ext cx="7429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8D2BEA-690A-4076-A294-B0661F87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14700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Replay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F5985C-5CAB-495C-9CBF-F721C915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4805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26973D-7905-4F33-9651-89AD91E7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00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110105-55EF-41DC-8C95-26AAF183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38500"/>
            <a:ext cx="7429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177B5D-90F4-4F0B-B73B-13FBAC3D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14700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Snapshot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305330-D426-4EC3-895E-D1B07850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4805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D61AEF-D6F9-442A-B981-7CD963B5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00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AB8F4C-47AE-4E80-B412-743A4230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38500"/>
            <a:ext cx="7429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DBA68E-6044-4798-88B9-AF70C6D4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314700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Audit Log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7E03E0-9062-44F3-928C-CCD53403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048125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最终结论可回溯到任务输入、工具调用和阶段结果。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35113E-261F-42EC-B088-DA7F9F00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1428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758306-F4FC-473B-8052-4A6002CE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050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Replay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311C98-C45E-406D-971D-FCB444B7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288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过程回放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6F7FFF-3A36-44C3-BCDA-4A9393DC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1935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阶段和工具轨迹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784A1B-1492-4E57-8B24-C85DFDB9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0"/>
            <a:ext cx="1428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749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C22908-B946-4F34-A8D0-114E1414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050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Snapshot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CCD6CE-F546-4E74-AE41-72DD6DC1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288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执行快照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AB8188-63BA-48EF-AE6C-737F3C2F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1935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结果结构化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C0F597-80B8-4991-9929-699F275B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52750"/>
            <a:ext cx="1428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1FBED2-075E-43C2-B77E-F7C2AC37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481E57-6462-43CE-B11E-6B2C91B2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718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审计日志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E9EF9F-70FC-4196-BC8D-C5683F57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6235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导出可追溯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E526FF-DB20-4B05-8BBD-9A1F1DF9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86250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22FE3D-BEFF-40F0-A2F8-46CD0A69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386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模型输出不是最终法律结论，仍需回到事实、依据和流程中复核。</a:t>
            </a:r>
          </a:p>
        </p:txBody>
      </p:sp>
    </p:spTree>
    <p:extLst>
      <p:ext uri="{BB962C8B-B14F-4D97-AF65-F5344CB8AC3E}">
        <p14:creationId xmlns:p14="http://schemas.microsoft.com/office/powerpoint/2010/main" val="24255727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7D987F-FFF5-4871-8B87-D67A0F3F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D5E11-CC48-44A9-AD5D-C3D9214D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81A748-5A73-479A-86D0-3291B361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LEXHUB NATIONAL FINAL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D13B09-7F54-45AE-B810-E378CB52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8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223EB-561B-44AA-AA28-A4F06712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律枢 LexHub · 六百六十六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51F28-EF98-44B7-AA33-79428772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创新点与性能价值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4EE15-0C16-4064-BE97-B245F8EF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项目价值不只体现在功能跑通，还体现在 Co-Sight 行业化改造、效率提升和可复核交付。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CF5405-512C-42C8-A3BF-D905C8E2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524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5D6736-7E79-44F0-A68C-EDAA6B0C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状态驱动调度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84E898-9057-4AD4-A76C-DC086AFE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752600"/>
            <a:ext cx="1524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C9C345-AC4F-4C88-AE53-86B0A808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240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法律 DAG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6B581E-EEA2-4ACA-9105-3D9D760D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52600"/>
            <a:ext cx="1524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374BAB-4273-4B58-B65D-6CFA0817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240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法规 RAG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6872DB-CFB1-4C90-A62A-23CA0A09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524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CA246D-8F07-41A4-8F1B-3C6B87AD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Replay 交付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8A824E-AD7A-47A2-A73A-A6BC4EA4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43200"/>
            <a:ext cx="1524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ADC12E-7DDB-4696-8A5B-447A435C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146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工作台闭环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12F649-ACCB-489D-8517-AD7FF00D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954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任务耗时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5E0EA8-709B-45C9-BAA8-CAF80783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33550"/>
            <a:ext cx="11144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72A0B8-BA28-49C7-BAD8-713644BF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85950"/>
            <a:ext cx="29718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8B3FE3-5290-435F-817B-F95F00B2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790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12min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F7C6AF-4514-49DF-B43F-8CE6B2A5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907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引用追溯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E192D9-E438-413F-A578-06A2B403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28850"/>
            <a:ext cx="1485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091509-7966-4363-BE0E-37BD20BC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81250"/>
            <a:ext cx="217932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C0225A-E351-4C2A-B32A-876B5660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2860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88%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5B7DA4-7B54-4056-AB05-E021E608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860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过程复核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19DEA6-1EE6-4346-823D-907A4EDA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24150"/>
            <a:ext cx="742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758473-9E3C-4544-AA7F-BEF01696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76550"/>
            <a:ext cx="2476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D7ECEF-6866-4383-99BD-4E0D85A8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7813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B584A4-3E89-4BF1-8660-F354E59E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81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文书形成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DD6BA2-F262-4A2E-BFD2-E85C0E09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219450"/>
            <a:ext cx="990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A70AED-FF55-44B6-BFCD-E4EDE3B7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71850"/>
            <a:ext cx="2228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7CABE5-91E3-4990-8304-F3187E5D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2766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90%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CDE65B-A730-4C56-9D22-0B2C828D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766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工具可见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BDD6BE-2285-468A-854E-CB6B3E8E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14750"/>
            <a:ext cx="8667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C99316-8C61-4935-8294-4833B7F4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867150"/>
            <a:ext cx="227838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A91936-47A4-4BCA-84F9-AE51DADB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7719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92%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7FF52F-6BE8-4ACE-A377-33A8AEF3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530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灰色：传统方式  蓝色：LexHub 演示基准</a:t>
            </a:r>
          </a:p>
        </p:txBody>
      </p:sp>
    </p:spTree>
    <p:extLst>
      <p:ext uri="{BB962C8B-B14F-4D97-AF65-F5344CB8AC3E}">
        <p14:creationId xmlns:p14="http://schemas.microsoft.com/office/powerpoint/2010/main" val="10375551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5E959F-E136-454A-852B-252454B6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767C1-EE49-4DE1-91F3-10BF04B1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30E206-E790-40BA-9654-BFC81110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LEXHUB NATIONAL FINAL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02713-5C27-4ED2-95B5-13543697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8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26752-970A-4559-8747-89D531DD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律枢 LexHub · 六百六十六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8641B9-A55F-4CA8-96A1-1B7775F3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商业方案与社会价值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2B009-53C8-4DFB-9683-A5F5DDCD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从个人法律从业者和机构客户两类路径落地，同时提升法律服务效率与可及性。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550962-7EE0-49D6-8A7F-3507D5AA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2858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0EA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BB462E-1ABB-4B94-94DE-D2CBD47B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1209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客户类型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F85C76-8D32-40F0-9324-E6E2893F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1619250"/>
            <a:ext cx="174879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0EA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C0CC75-35AC-4B43-B1B9-E90AFEDE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657350"/>
            <a:ext cx="16725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方案形态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82962-D190-41DE-82EA-7653A831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4265" y="1619250"/>
            <a:ext cx="210883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0EA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E4F01F-FD23-4248-AE18-9D6D76D3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2365" y="1657350"/>
            <a:ext cx="203263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价值主张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18EDDD-D477-4DA7-9A33-73FE15C7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2858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A1FD5A-BB62-46C8-A142-D45D0FF5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1209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个人律师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096C0D-9BF5-4A70-BF5E-DE7AA2BA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152650"/>
            <a:ext cx="174879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75C6C7-ED32-4B2D-A3DA-02416A9F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190750"/>
            <a:ext cx="16725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订阅制工具服务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152107-67AD-437E-A65B-1030013F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4265" y="2152650"/>
            <a:ext cx="210883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460285-0A31-4644-8BDC-92E5E7B1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2365" y="2190750"/>
            <a:ext cx="203263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降低检索和文书初稿成本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2C5C09-7B17-4519-AC53-731BF78D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2858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7C6D33-F368-4CA6-81ED-903C205D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1209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律所团队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61557A-240E-4F17-877B-BB3C3E8F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686050"/>
            <a:ext cx="174879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752541-8E04-4F4D-BA63-703A7147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724150"/>
            <a:ext cx="16725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团队工作台与模板包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DB6853-98BA-4556-88A0-D30B9978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4265" y="2686050"/>
            <a:ext cx="210883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ADA0BF-4A82-449D-80BC-F46175C8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2365" y="2724150"/>
            <a:ext cx="203263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统一工作流和案件经验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B68001-943C-4723-9B06-D0F8A58D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2858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C701DF-B89D-4B36-BB08-69E3FD81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1209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企业法务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0ABEDB-0585-45AA-96B2-20D01E64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219450"/>
            <a:ext cx="174879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8977D1-B929-4522-82B7-7BE6A5E1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257550"/>
            <a:ext cx="16725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合规与合同审查场景包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0CD5F5-AFE2-40CF-8BD0-1554A94A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4265" y="3219450"/>
            <a:ext cx="210883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FB4534-1611-42EB-9ACE-47E6383A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2365" y="3257550"/>
            <a:ext cx="203263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提升合同和合规处理效率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6289D4-4DFD-4A2F-ADDF-4C010FA1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2858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A82D9C-899E-4A86-B7E5-D156B3BD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1209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政企机构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2A4B1E-CA01-4432-A10E-C7CD2020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752850"/>
            <a:ext cx="174879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D46F19-39F0-4402-A019-C343BE6F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790950"/>
            <a:ext cx="16725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私有化部署与知识库定制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A79E8A-2680-4965-A84D-21C2F5FB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4265" y="3752850"/>
            <a:ext cx="210883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9B0186-9A50-4FFA-ACCC-914F840E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2365" y="3790950"/>
            <a:ext cx="203263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数据隔离、流程审计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B34F7B-5691-4B31-82DA-14DECE65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95450"/>
            <a:ext cx="3714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2A3EDB-D743-4C49-BEA7-0F28506C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个人律师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85D6DC-9B03-47D8-B279-D522FC7D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097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35%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1F0F80-B1EA-47CB-B9B7-2B46A138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3714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749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E5CE2B-DBFF-48DE-9BED-ED28D628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955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律所团队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74C25D8-7683-4A45-BF4B-E581AAFD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955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597A8D1-7686-4A32-9DBE-F55A5A60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67050"/>
            <a:ext cx="3714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BFA789-DF60-4338-A283-00A0C00B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813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企业法务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50BD55C-9ABB-404D-88B7-9A385319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813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E11F203-9093-4914-A83C-1AF519BB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52850"/>
            <a:ext cx="3714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653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F03DDA0-BCBA-4690-9CF5-45326B71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671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653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6534"/>
                </a:solidFill>
                <a:latin typeface="Aptos"/>
                <a:ea typeface="Aptos"/>
                <a:cs typeface="Aptos"/>
              </a:rPr>
              <a:t>政企机构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FA01110-B959-40E1-9A9C-EFDE2CCE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671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653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6534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51B908D-9C5B-4210-91B4-3A6206D9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62500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社会价值：降低法律材料初筛门槛，增强依据追溯与过程留痕。</a:t>
            </a:r>
          </a:p>
        </p:txBody>
      </p:sp>
    </p:spTree>
    <p:extLst>
      <p:ext uri="{BB962C8B-B14F-4D97-AF65-F5344CB8AC3E}">
        <p14:creationId xmlns:p14="http://schemas.microsoft.com/office/powerpoint/2010/main" val="180080019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8D28EE-27F3-4712-B22B-E3EE1D91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21328F-8A45-414E-A774-9CC56B6C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63468-6651-4278-AB2F-2743EEE0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LEXHUB NATIONAL FINAL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2E97EB-DDCA-46C4-882B-D5EAF737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8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2FB3D-845E-4B0B-82D1-98CF1394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律枢 LexHub · 六百六十六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8D848D-5D16-46D1-AA77-C7265D1F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总结与交付成果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C91C1-03CA-4B32-8C0E-02FBA2E6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LexHub 已形成可运行、可复核、可继续扩展的竞赛交付。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262AA-8AA9-46CF-930B-CB6E5F2A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65354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0EA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034BC0-BA63-45EF-BAF2-E3D5C7FD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15773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类型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2E0F31-2748-4A77-B43E-54367EE4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340" y="1619250"/>
            <a:ext cx="425196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0EA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EEA80F-A712-42D4-B5D2-91A3DD1D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1657350"/>
            <a:ext cx="41757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内容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8118BA-8177-4842-8BBC-EC68C5F5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65354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76936E-B079-4807-AE76-A674E98A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5773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前端工程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94E08A-87ED-4D6A-8F4F-D1103378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340" y="2038350"/>
            <a:ext cx="425196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7C05E4-3D30-4882-A964-781F01FA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076450"/>
            <a:ext cx="41757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用户端、管理端、工作台、回放页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432A7B-87F0-46CA-8628-54F54FE2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65354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23CB68-8980-474E-A3CB-A9D3F2D8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15773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后端工程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C8C282-B000-4CD2-9216-C67A4263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340" y="2457450"/>
            <a:ext cx="425196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6C8A58-C192-4B5A-BE95-C083DAEF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495550"/>
            <a:ext cx="41757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上传、知识库、导出、审计、配置接口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08F536-EA80-4AD6-9456-337DD2FD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65354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3DBA74-E9CD-4F2E-B698-6BB0262D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5773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工作流配置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C9A477-FC06-4F20-8CA0-2226458A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340" y="2876550"/>
            <a:ext cx="425196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7C7258-4408-45E1-B64E-53D7C651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914650"/>
            <a:ext cx="41757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config/legal-workflow.json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3FF335-6F20-47AF-A6F9-53486D79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65354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ACA0FB-8AEB-477C-9409-4044C463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5773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智能体配置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CD605D-3B2F-4035-AAF5-38B81D78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340" y="3295650"/>
            <a:ext cx="425196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DD84BB-7D72-4A1A-9AA6-6886856B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333750"/>
            <a:ext cx="41757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config/agent-registry.json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1261A1-FF95-4DB4-9F0D-73768D00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65354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7242F8-17BE-4191-8FC3-08463927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15773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自定义工具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A025C7-7D8C-4F89-9A34-F0E8B902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340" y="3714750"/>
            <a:ext cx="425196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0608DA-9207-446C-BB05-7B4ADCEA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752850"/>
            <a:ext cx="41757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legal_search_toolkit.py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6D45A2-F1C5-47F7-97EF-2B2CADF2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165354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628C00-3D02-4DA8-B1CC-5DBC9219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15773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测试材料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768333-08E9-4EB7-976A-679BBBEC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340" y="4133850"/>
            <a:ext cx="425196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67E415-C124-4A03-955E-1817551D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4171950"/>
            <a:ext cx="41757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劳动争议、公司治理、数据合规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202D22-0A15-4C59-83AF-4491AB2A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65354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E07C07-33B1-4A9B-9367-AA53FD3C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15773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文档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2E31DD-06E9-485B-A49B-C3498653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340" y="4552950"/>
            <a:ext cx="425196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B25EA0-C68A-46FA-B763-0D4885C4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4591050"/>
            <a:ext cx="41757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技术方案、创新总结、对比说明、PPT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122D3B-65CB-4271-9E3E-E0BF8B98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09750"/>
            <a:ext cx="3714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AD6DA2-D337-4E40-98C4-591A266D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E3A8A"/>
                </a:solidFill>
                <a:latin typeface="Aptos Display"/>
                <a:ea typeface="Aptos Display"/>
                <a:cs typeface="Aptos Display"/>
              </a:rPr>
              <a:t>从通用 Co-Sight 到法律业务智能服务平台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73E3D8-A380-4226-B6EC-F0DF2ABD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57500"/>
            <a:ext cx="304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形成材料接入、任务拆解、法规检索、文书生成、过程复核的完整链路。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3DFCBF-3DAC-451C-B39C-A3AC8A0D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052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六百六十六团队 · 律枢 LexHub</a:t>
            </a:r>
          </a:p>
        </p:txBody>
      </p:sp>
    </p:spTree>
    <p:extLst>
      <p:ext uri="{BB962C8B-B14F-4D97-AF65-F5344CB8AC3E}">
        <p14:creationId xmlns:p14="http://schemas.microsoft.com/office/powerpoint/2010/main" val="5092272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2026-07-06T14:06:37.2290000Z</dcterms:created>
  <dcterms:modified xsi:type="dcterms:W3CDTF">2026-07-06T14:06:37.2290000Z</dcterms:modified>
</coreProperties>
</file>