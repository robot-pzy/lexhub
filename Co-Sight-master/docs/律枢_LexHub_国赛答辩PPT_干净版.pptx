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384048"/>
            <a:ext cx="1572768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08208" y="384048"/>
            <a:ext cx="0" cy="713232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48672" y="566928"/>
            <a:ext cx="685800" cy="0"/>
          </a:xfrm>
          <a:prstGeom prst="line">
            <a:avLst/>
          </a:prstGeom>
          <a:noFill/>
          <a:ln w="1143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34472" y="566928"/>
            <a:ext cx="0" cy="50292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62488" y="1078992"/>
            <a:ext cx="73152" cy="73152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6254496"/>
            <a:ext cx="1609344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5623560"/>
            <a:ext cx="0" cy="630936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6089904"/>
            <a:ext cx="987552" cy="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5669280"/>
            <a:ext cx="0" cy="420624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5550408"/>
            <a:ext cx="64008" cy="64008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pic>
        <p:nvPicPr>
          <p:cNvPr id="12" name="Image 0" descr="/mnt/data/lexhub_brand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2286000" cy="87782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875520" y="4754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国赛答辩</a:t>
            </a:r>
            <a:endParaRPr lang="en-US" sz="1050" dirty="0"/>
          </a:p>
        </p:txBody>
      </p:sp>
      <p:pic>
        <p:nvPicPr>
          <p:cNvPr id="14" name="Image 1" descr="/mnt/data/lexhub_logo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35024"/>
            <a:ext cx="2331720" cy="23317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46120" y="3703320"/>
            <a:ext cx="57150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律枢 LexHub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2148840" y="4224528"/>
            <a:ext cx="80010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基于中兴 Co-Sight 的法律业务智能服务平台</a:t>
            </a:r>
            <a:endParaRPr lang="en-US" sz="1950" dirty="0"/>
          </a:p>
        </p:txBody>
      </p:sp>
      <p:sp>
        <p:nvSpPr>
          <p:cNvPr id="17" name="Shape 13"/>
          <p:cNvSpPr/>
          <p:nvPr/>
        </p:nvSpPr>
        <p:spPr>
          <a:xfrm>
            <a:off x="3749040" y="4700016"/>
            <a:ext cx="1958645" cy="0"/>
          </a:xfrm>
          <a:prstGeom prst="line">
            <a:avLst/>
          </a:prstGeom>
          <a:noFill/>
          <a:ln w="10160">
            <a:solidFill>
              <a:srgbClr val="C7830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87491" y="4668012"/>
            <a:ext cx="73152" cy="73152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60566" y="4700016"/>
            <a:ext cx="2051914" cy="0"/>
          </a:xfrm>
          <a:prstGeom prst="line">
            <a:avLst/>
          </a:prstGeom>
          <a:noFill/>
          <a:ln w="8890">
            <a:solidFill>
              <a:srgbClr val="D8B98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926080" y="4983480"/>
            <a:ext cx="111556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1430">
            <a:solidFill>
              <a:srgbClr val="08285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999232" y="5024628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材料接入</a:t>
            </a:r>
            <a:endParaRPr lang="en-US" sz="880" dirty="0"/>
          </a:p>
        </p:txBody>
      </p:sp>
      <p:sp>
        <p:nvSpPr>
          <p:cNvPr id="22" name="Shape 18"/>
          <p:cNvSpPr/>
          <p:nvPr/>
        </p:nvSpPr>
        <p:spPr>
          <a:xfrm>
            <a:off x="4206240" y="4983480"/>
            <a:ext cx="111556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1430">
            <a:solidFill>
              <a:srgbClr val="007F7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279392" y="5024628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07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法规检索</a:t>
            </a:r>
            <a:endParaRPr lang="en-US" sz="880" dirty="0"/>
          </a:p>
        </p:txBody>
      </p:sp>
      <p:sp>
        <p:nvSpPr>
          <p:cNvPr id="24" name="Shape 20"/>
          <p:cNvSpPr/>
          <p:nvPr/>
        </p:nvSpPr>
        <p:spPr>
          <a:xfrm>
            <a:off x="5486400" y="4983480"/>
            <a:ext cx="111556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1430">
            <a:solidFill>
              <a:srgbClr val="C7830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559552" y="5024628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C783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智能体协作</a:t>
            </a:r>
            <a:endParaRPr lang="en-US" sz="880" dirty="0"/>
          </a:p>
        </p:txBody>
      </p:sp>
      <p:sp>
        <p:nvSpPr>
          <p:cNvPr id="26" name="Shape 22"/>
          <p:cNvSpPr/>
          <p:nvPr/>
        </p:nvSpPr>
        <p:spPr>
          <a:xfrm>
            <a:off x="6766560" y="4983480"/>
            <a:ext cx="111556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1430">
            <a:solidFill>
              <a:srgbClr val="12386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839712" y="5024628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238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文书交付</a:t>
            </a:r>
            <a:endParaRPr lang="en-US" sz="880" dirty="0"/>
          </a:p>
        </p:txBody>
      </p:sp>
      <p:sp>
        <p:nvSpPr>
          <p:cNvPr id="28" name="Shape 24"/>
          <p:cNvSpPr/>
          <p:nvPr/>
        </p:nvSpPr>
        <p:spPr>
          <a:xfrm>
            <a:off x="8046720" y="4983480"/>
            <a:ext cx="111556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1430">
            <a:solidFill>
              <a:srgbClr val="007F7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119872" y="5024628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07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过程复核</a:t>
            </a:r>
            <a:endParaRPr lang="en-US" sz="880" dirty="0"/>
          </a:p>
        </p:txBody>
      </p:sp>
      <p:sp>
        <p:nvSpPr>
          <p:cNvPr id="30" name="Text 26"/>
          <p:cNvSpPr/>
          <p:nvPr/>
        </p:nvSpPr>
        <p:spPr>
          <a:xfrm>
            <a:off x="4773168" y="5504688"/>
            <a:ext cx="26517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团队：六百六十六</a:t>
            </a:r>
            <a:endParaRPr lang="en-US" sz="13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384048"/>
            <a:ext cx="1572768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08208" y="384048"/>
            <a:ext cx="0" cy="713232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48672" y="566928"/>
            <a:ext cx="685800" cy="0"/>
          </a:xfrm>
          <a:prstGeom prst="line">
            <a:avLst/>
          </a:prstGeom>
          <a:noFill/>
          <a:ln w="1143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34472" y="566928"/>
            <a:ext cx="0" cy="50292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62488" y="1078992"/>
            <a:ext cx="73152" cy="73152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6254496"/>
            <a:ext cx="1609344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5623560"/>
            <a:ext cx="0" cy="630936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6089904"/>
            <a:ext cx="987552" cy="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5669280"/>
            <a:ext cx="0" cy="420624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5550408"/>
            <a:ext cx="64008" cy="64008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pic>
        <p:nvPicPr>
          <p:cNvPr id="12" name="Image 0" descr="/mnt/data/lexhub_brand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01752"/>
            <a:ext cx="1920240" cy="7315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3232" y="112471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业务背景与痛点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31520" y="15361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法律辅助任务的难点不是“生成文本”，而是“依据可追溯、过程可复核”。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1901952"/>
            <a:ext cx="10735056" cy="0"/>
          </a:xfrm>
          <a:prstGeom prst="line">
            <a:avLst/>
          </a:prstGeom>
          <a:noFill/>
          <a:ln w="10160">
            <a:solidFill>
              <a:srgbClr val="E7EC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55680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960120" y="2148840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传统工作方式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229600" y="2148840"/>
            <a:ext cx="22860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LexHub 工作方式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14400" y="2670048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78992" y="2752344"/>
            <a:ext cx="195681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材料分散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703320" y="2862072"/>
            <a:ext cx="3794760" cy="0"/>
          </a:xfrm>
          <a:prstGeom prst="line">
            <a:avLst/>
          </a:prstGeom>
          <a:noFill/>
          <a:ln w="13970">
            <a:solidFill>
              <a:srgbClr val="C78300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8001000" y="2670048"/>
            <a:ext cx="2852928" cy="384048"/>
          </a:xfrm>
          <a:prstGeom prst="roundRect">
            <a:avLst>
              <a:gd name="adj" fmla="val 19048"/>
            </a:avLst>
          </a:prstGeom>
          <a:solidFill>
            <a:srgbClr val="FBFCFE"/>
          </a:solidFill>
          <a:ln w="13970">
            <a:solidFill>
              <a:srgbClr val="C783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2752344"/>
            <a:ext cx="248716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统一接入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914400" y="329184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78992" y="3374136"/>
            <a:ext cx="195681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依据难追溯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3703320" y="3483864"/>
            <a:ext cx="3794760" cy="0"/>
          </a:xfrm>
          <a:prstGeom prst="line">
            <a:avLst/>
          </a:prstGeom>
          <a:noFill/>
          <a:ln w="13970">
            <a:solidFill>
              <a:srgbClr val="007F73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8001000" y="3291840"/>
            <a:ext cx="2852928" cy="384048"/>
          </a:xfrm>
          <a:prstGeom prst="roundRect">
            <a:avLst>
              <a:gd name="adj" fmla="val 19048"/>
            </a:avLst>
          </a:prstGeom>
          <a:solidFill>
            <a:srgbClr val="FBFCFE"/>
          </a:solidFill>
          <a:ln w="13970">
            <a:solidFill>
              <a:srgbClr val="007F7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183880" y="3374136"/>
            <a:ext cx="248716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法规 RAG + 引用记录</a:t>
            </a:r>
            <a:endParaRPr lang="en-US" sz="1120" dirty="0"/>
          </a:p>
        </p:txBody>
      </p:sp>
      <p:sp>
        <p:nvSpPr>
          <p:cNvPr id="29" name="Shape 26"/>
          <p:cNvSpPr/>
          <p:nvPr/>
        </p:nvSpPr>
        <p:spPr>
          <a:xfrm>
            <a:off x="914400" y="3913632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78992" y="3995928"/>
            <a:ext cx="195681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过程不可见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3703320" y="4105656"/>
            <a:ext cx="3794760" cy="0"/>
          </a:xfrm>
          <a:prstGeom prst="line">
            <a:avLst/>
          </a:prstGeom>
          <a:noFill/>
          <a:ln w="13970">
            <a:solidFill>
              <a:srgbClr val="C78300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8001000" y="3913632"/>
            <a:ext cx="2852928" cy="384048"/>
          </a:xfrm>
          <a:prstGeom prst="roundRect">
            <a:avLst>
              <a:gd name="adj" fmla="val 19048"/>
            </a:avLst>
          </a:prstGeom>
          <a:solidFill>
            <a:srgbClr val="FBFCFE"/>
          </a:solidFill>
          <a:ln w="13970">
            <a:solidFill>
              <a:srgbClr val="C783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183880" y="3995928"/>
            <a:ext cx="248716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DAG + Replay + Audit Log</a:t>
            </a:r>
            <a:endParaRPr lang="en-US" sz="1120" dirty="0"/>
          </a:p>
        </p:txBody>
      </p:sp>
      <p:sp>
        <p:nvSpPr>
          <p:cNvPr id="34" name="Shape 31"/>
          <p:cNvSpPr/>
          <p:nvPr/>
        </p:nvSpPr>
        <p:spPr>
          <a:xfrm>
            <a:off x="914400" y="4535424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78992" y="4617720"/>
            <a:ext cx="195681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文书整理耗时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3703320" y="4727448"/>
            <a:ext cx="3794760" cy="0"/>
          </a:xfrm>
          <a:prstGeom prst="line">
            <a:avLst/>
          </a:prstGeom>
          <a:noFill/>
          <a:ln w="13970">
            <a:solidFill>
              <a:srgbClr val="007F73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8001000" y="4535424"/>
            <a:ext cx="2852928" cy="384048"/>
          </a:xfrm>
          <a:prstGeom prst="roundRect">
            <a:avLst>
              <a:gd name="adj" fmla="val 19048"/>
            </a:avLst>
          </a:prstGeom>
          <a:solidFill>
            <a:srgbClr val="FBFCFE"/>
          </a:solidFill>
          <a:ln w="13970">
            <a:solidFill>
              <a:srgbClr val="007F7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183880" y="4617720"/>
            <a:ext cx="248716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结构化报告与导出</a:t>
            </a:r>
            <a:endParaRPr lang="en-US" sz="1120" dirty="0"/>
          </a:p>
        </p:txBody>
      </p:sp>
      <p:sp>
        <p:nvSpPr>
          <p:cNvPr id="39" name="Text 36"/>
          <p:cNvSpPr/>
          <p:nvPr/>
        </p:nvSpPr>
        <p:spPr>
          <a:xfrm>
            <a:off x="2103120" y="5532120"/>
            <a:ext cx="78638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法律场景需要把「事实、依据、过程、交付」放进同一条任务链路。</a:t>
            </a:r>
            <a:endParaRPr lang="en-US" sz="1900" dirty="0"/>
          </a:p>
        </p:txBody>
      </p:sp>
      <p:sp>
        <p:nvSpPr>
          <p:cNvPr id="40" name="Shape 37"/>
          <p:cNvSpPr/>
          <p:nvPr/>
        </p:nvSpPr>
        <p:spPr>
          <a:xfrm>
            <a:off x="4389120" y="5943600"/>
            <a:ext cx="1382573" cy="0"/>
          </a:xfrm>
          <a:prstGeom prst="line">
            <a:avLst/>
          </a:prstGeom>
          <a:noFill/>
          <a:ln w="10160">
            <a:solidFill>
              <a:srgbClr val="C7830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969203" y="5911596"/>
            <a:ext cx="73152" cy="73152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232550" y="5943600"/>
            <a:ext cx="1448410" cy="0"/>
          </a:xfrm>
          <a:prstGeom prst="line">
            <a:avLst/>
          </a:prstGeom>
          <a:noFill/>
          <a:ln w="8890">
            <a:solidFill>
              <a:srgbClr val="D8B98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384048"/>
            <a:ext cx="1572768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08208" y="384048"/>
            <a:ext cx="0" cy="713232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48672" y="566928"/>
            <a:ext cx="685800" cy="0"/>
          </a:xfrm>
          <a:prstGeom prst="line">
            <a:avLst/>
          </a:prstGeom>
          <a:noFill/>
          <a:ln w="1143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34472" y="566928"/>
            <a:ext cx="0" cy="50292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62488" y="1078992"/>
            <a:ext cx="73152" cy="73152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6254496"/>
            <a:ext cx="1609344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5623560"/>
            <a:ext cx="0" cy="630936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6089904"/>
            <a:ext cx="987552" cy="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5669280"/>
            <a:ext cx="0" cy="420624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5550408"/>
            <a:ext cx="64008" cy="64008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pic>
        <p:nvPicPr>
          <p:cNvPr id="12" name="Image 0" descr="/mnt/data/lexhub_brand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01752"/>
            <a:ext cx="1920240" cy="7315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3232" y="112471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目标场景与用户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31520" y="15361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面向高频法律辅助任务，覆盖律师、法务与合规人员。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1901952"/>
            <a:ext cx="10735056" cy="0"/>
          </a:xfrm>
          <a:prstGeom prst="line">
            <a:avLst/>
          </a:prstGeom>
          <a:noFill/>
          <a:ln w="10160">
            <a:solidFill>
              <a:srgbClr val="E7EC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55680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14400" y="2240280"/>
            <a:ext cx="480060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3970">
            <a:solidFill>
              <a:srgbClr val="12386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97280" y="2404872"/>
            <a:ext cx="329184" cy="329184"/>
          </a:xfrm>
          <a:prstGeom prst="ellipse">
            <a:avLst/>
          </a:prstGeom>
          <a:solidFill>
            <a:srgbClr val="12386E"/>
          </a:solidFill>
          <a:ln w="12700">
            <a:solidFill>
              <a:srgbClr val="1238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79576" y="2468880"/>
            <a:ext cx="164592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554480" y="2404872"/>
            <a:ext cx="15544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劳动争议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554480" y="2761488"/>
            <a:ext cx="3794760" cy="1920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输入：解除通知 / 考勤 / 工资明细</a:t>
            </a:r>
            <a:endParaRPr lang="en-US" sz="1020" dirty="0"/>
          </a:p>
        </p:txBody>
      </p:sp>
      <p:sp>
        <p:nvSpPr>
          <p:cNvPr id="22" name="Text 19"/>
          <p:cNvSpPr/>
          <p:nvPr/>
        </p:nvSpPr>
        <p:spPr>
          <a:xfrm>
            <a:off x="1554480" y="3035808"/>
            <a:ext cx="379476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输出：争议焦点 · 证据缺口 · 仲裁请求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144768" y="2240280"/>
            <a:ext cx="4800600" cy="1133856"/>
          </a:xfrm>
          <a:prstGeom prst="roundRect">
            <a:avLst>
              <a:gd name="adj" fmla="val 6452"/>
            </a:avLst>
          </a:prstGeom>
          <a:solidFill>
            <a:srgbClr val="FBFCFE"/>
          </a:solidFill>
          <a:ln w="13970">
            <a:solidFill>
              <a:srgbClr val="12386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327648" y="2404872"/>
            <a:ext cx="329184" cy="329184"/>
          </a:xfrm>
          <a:prstGeom prst="ellipse">
            <a:avLst/>
          </a:prstGeom>
          <a:solidFill>
            <a:srgbClr val="12386E"/>
          </a:solidFill>
          <a:ln w="12700">
            <a:solidFill>
              <a:srgbClr val="12386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9944" y="2468880"/>
            <a:ext cx="164592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784848" y="2404872"/>
            <a:ext cx="15544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公司治理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784848" y="2761488"/>
            <a:ext cx="3794760" cy="1920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输入：股权结构 / 决议 / 章程</a:t>
            </a:r>
            <a:endParaRPr lang="en-US" sz="1020" dirty="0"/>
          </a:p>
        </p:txBody>
      </p:sp>
      <p:sp>
        <p:nvSpPr>
          <p:cNvPr id="28" name="Text 25"/>
          <p:cNvSpPr/>
          <p:nvPr/>
        </p:nvSpPr>
        <p:spPr>
          <a:xfrm>
            <a:off x="6784848" y="3035808"/>
            <a:ext cx="379476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输出：主体关系 · 程序风险 · 补正建议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14400" y="3794760"/>
            <a:ext cx="480060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3970">
            <a:solidFill>
              <a:srgbClr val="007F7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97280" y="3959352"/>
            <a:ext cx="329184" cy="329184"/>
          </a:xfrm>
          <a:prstGeom prst="ellipse">
            <a:avLst/>
          </a:prstGeom>
          <a:solidFill>
            <a:srgbClr val="007F73"/>
          </a:solidFill>
          <a:ln w="12700">
            <a:solidFill>
              <a:srgbClr val="007F7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79576" y="4023360"/>
            <a:ext cx="164592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554480" y="3959352"/>
            <a:ext cx="15544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数据合规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554480" y="4315968"/>
            <a:ext cx="3794760" cy="1920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输入：SDK 清单 / 投诉 / 评估材料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1554480" y="4590288"/>
            <a:ext cx="379476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输出：合规风险 · 整改建议 · 法规依据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144768" y="3794760"/>
            <a:ext cx="4800600" cy="1133856"/>
          </a:xfrm>
          <a:prstGeom prst="roundRect">
            <a:avLst>
              <a:gd name="adj" fmla="val 6452"/>
            </a:avLst>
          </a:prstGeom>
          <a:solidFill>
            <a:srgbClr val="FBFCFE"/>
          </a:solidFill>
          <a:ln w="13970">
            <a:solidFill>
              <a:srgbClr val="007F7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327648" y="3959352"/>
            <a:ext cx="329184" cy="329184"/>
          </a:xfrm>
          <a:prstGeom prst="ellipse">
            <a:avLst/>
          </a:prstGeom>
          <a:solidFill>
            <a:srgbClr val="007F73"/>
          </a:solidFill>
          <a:ln w="12700">
            <a:solidFill>
              <a:srgbClr val="007F7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09944" y="4023360"/>
            <a:ext cx="164592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784848" y="3959352"/>
            <a:ext cx="15544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合同审查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784848" y="4315968"/>
            <a:ext cx="3794760" cy="1920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输入：合同正文 / 补充协议 / 履约材料</a:t>
            </a:r>
            <a:endParaRPr lang="en-US" sz="1020" dirty="0"/>
          </a:p>
        </p:txBody>
      </p:sp>
      <p:sp>
        <p:nvSpPr>
          <p:cNvPr id="40" name="Text 37"/>
          <p:cNvSpPr/>
          <p:nvPr/>
        </p:nvSpPr>
        <p:spPr>
          <a:xfrm>
            <a:off x="6784848" y="4590288"/>
            <a:ext cx="379476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输出：条款风险 · 修改建议 · 审查报告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914400" y="5623560"/>
            <a:ext cx="8229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目标用户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1874520" y="5586984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1430">
            <a:solidFill>
              <a:srgbClr val="08285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947672" y="5628132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个人律师</a:t>
            </a:r>
            <a:endParaRPr lang="en-US" sz="880" dirty="0"/>
          </a:p>
        </p:txBody>
      </p:sp>
      <p:sp>
        <p:nvSpPr>
          <p:cNvPr id="44" name="Shape 41"/>
          <p:cNvSpPr/>
          <p:nvPr/>
        </p:nvSpPr>
        <p:spPr>
          <a:xfrm>
            <a:off x="3291840" y="5586984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1430">
            <a:solidFill>
              <a:srgbClr val="007F7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364992" y="5628132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07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律所团队</a:t>
            </a:r>
            <a:endParaRPr lang="en-US" sz="880" dirty="0"/>
          </a:p>
        </p:txBody>
      </p:sp>
      <p:sp>
        <p:nvSpPr>
          <p:cNvPr id="46" name="Shape 43"/>
          <p:cNvSpPr/>
          <p:nvPr/>
        </p:nvSpPr>
        <p:spPr>
          <a:xfrm>
            <a:off x="4709160" y="5586984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1430">
            <a:solidFill>
              <a:srgbClr val="C7830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782312" y="5628132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C783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企业法务</a:t>
            </a:r>
            <a:endParaRPr lang="en-US" sz="880" dirty="0"/>
          </a:p>
        </p:txBody>
      </p:sp>
      <p:sp>
        <p:nvSpPr>
          <p:cNvPr id="48" name="Shape 45"/>
          <p:cNvSpPr/>
          <p:nvPr/>
        </p:nvSpPr>
        <p:spPr>
          <a:xfrm>
            <a:off x="6126480" y="5586984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1430">
            <a:solidFill>
              <a:srgbClr val="12386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199632" y="5628132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238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合规人员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384048"/>
            <a:ext cx="1572768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08208" y="384048"/>
            <a:ext cx="0" cy="713232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48672" y="566928"/>
            <a:ext cx="685800" cy="0"/>
          </a:xfrm>
          <a:prstGeom prst="line">
            <a:avLst/>
          </a:prstGeom>
          <a:noFill/>
          <a:ln w="1143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34472" y="566928"/>
            <a:ext cx="0" cy="50292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62488" y="1078992"/>
            <a:ext cx="73152" cy="73152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6254496"/>
            <a:ext cx="1609344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5623560"/>
            <a:ext cx="0" cy="630936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6089904"/>
            <a:ext cx="987552" cy="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5669280"/>
            <a:ext cx="0" cy="420624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5550408"/>
            <a:ext cx="64008" cy="64008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pic>
        <p:nvPicPr>
          <p:cNvPr id="12" name="Image 0" descr="/mnt/data/lexhub_brand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01752"/>
            <a:ext cx="1920240" cy="7315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3232" y="112471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方案总览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31520" y="15361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LexHub 将法律任务组织为“材料、依据、流程、交付、复核”的闭环。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1901952"/>
            <a:ext cx="10735056" cy="0"/>
          </a:xfrm>
          <a:prstGeom prst="line">
            <a:avLst/>
          </a:prstGeom>
          <a:noFill/>
          <a:ln w="10160">
            <a:solidFill>
              <a:srgbClr val="E7EC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55680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850" dirty="0"/>
          </a:p>
        </p:txBody>
      </p:sp>
      <p:pic>
        <p:nvPicPr>
          <p:cNvPr id="17" name="Image 1" descr="/mnt/data/lexhub_logo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2862072"/>
            <a:ext cx="1051560" cy="10515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663440" y="4041648"/>
            <a:ext cx="24231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法律任务闭环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1874520" y="2377440"/>
            <a:ext cx="148132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0828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011680" y="2542032"/>
            <a:ext cx="1207008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输入材料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846320" y="1993392"/>
            <a:ext cx="148132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007F7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983480" y="2157984"/>
            <a:ext cx="1207008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法规检索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7772400" y="2377440"/>
            <a:ext cx="148132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C7830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909560" y="2542032"/>
            <a:ext cx="1207008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83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DAG 协作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903720" y="4709160"/>
            <a:ext cx="148132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12386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040880" y="4873752"/>
            <a:ext cx="1207008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8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结构化成果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2834640" y="4709160"/>
            <a:ext cx="148132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007F7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971800" y="4873752"/>
            <a:ext cx="1207008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审计复核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3383280" y="2642616"/>
            <a:ext cx="1353312" cy="-329184"/>
          </a:xfrm>
          <a:prstGeom prst="line">
            <a:avLst/>
          </a:prstGeom>
          <a:noFill/>
          <a:ln w="13970">
            <a:solidFill>
              <a:srgbClr val="C78300"/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6336792" y="2276856"/>
            <a:ext cx="1344168" cy="347472"/>
          </a:xfrm>
          <a:prstGeom prst="line">
            <a:avLst/>
          </a:prstGeom>
          <a:noFill/>
          <a:ln w="13970">
            <a:solidFill>
              <a:srgbClr val="C78300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8092440" y="2980944"/>
            <a:ext cx="-457200" cy="1572768"/>
          </a:xfrm>
          <a:prstGeom prst="line">
            <a:avLst/>
          </a:prstGeom>
          <a:noFill/>
          <a:ln w="13970">
            <a:solidFill>
              <a:srgbClr val="C78300"/>
            </a:solidFill>
            <a:prstDash val="solid"/>
            <a:tailEnd type="triangle"/>
          </a:ln>
        </p:spPr>
      </p:sp>
      <p:sp>
        <p:nvSpPr>
          <p:cNvPr id="32" name="Shape 28"/>
          <p:cNvSpPr/>
          <p:nvPr/>
        </p:nvSpPr>
        <p:spPr>
          <a:xfrm>
            <a:off x="6766560" y="4937760"/>
            <a:ext cx="-2359152" cy="0"/>
          </a:xfrm>
          <a:prstGeom prst="line">
            <a:avLst/>
          </a:prstGeom>
          <a:noFill/>
          <a:ln w="13970">
            <a:solidFill>
              <a:srgbClr val="C78300"/>
            </a:solidFill>
            <a:prstDash val="solid"/>
            <a:tailEnd type="triangle"/>
          </a:ln>
        </p:spPr>
      </p:sp>
      <p:sp>
        <p:nvSpPr>
          <p:cNvPr id="33" name="Shape 29"/>
          <p:cNvSpPr/>
          <p:nvPr/>
        </p:nvSpPr>
        <p:spPr>
          <a:xfrm>
            <a:off x="3291840" y="4681728"/>
            <a:ext cx="-786384" cy="-1591056"/>
          </a:xfrm>
          <a:prstGeom prst="line">
            <a:avLst/>
          </a:prstGeom>
          <a:noFill/>
          <a:ln w="13970">
            <a:solidFill>
              <a:srgbClr val="C78300"/>
            </a:solidFill>
            <a:prstDash val="solid"/>
            <a:tailEnd type="triangle"/>
          </a:ln>
        </p:spPr>
      </p:sp>
      <p:sp>
        <p:nvSpPr>
          <p:cNvPr id="34" name="Shape 30"/>
          <p:cNvSpPr/>
          <p:nvPr/>
        </p:nvSpPr>
        <p:spPr>
          <a:xfrm>
            <a:off x="9464040" y="2377440"/>
            <a:ext cx="1828800" cy="2194560"/>
          </a:xfrm>
          <a:prstGeom prst="roundRect">
            <a:avLst>
              <a:gd name="adj" fmla="val 4000"/>
            </a:avLst>
          </a:prstGeom>
          <a:solidFill>
            <a:srgbClr val="FBFCFE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9710928" y="2596896"/>
            <a:ext cx="132588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三条结论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9738360" y="3063240"/>
            <a:ext cx="14173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不是单点问答</a:t>
            </a:r>
            <a:endParaRPr lang="en-US" sz="1120" dirty="0"/>
          </a:p>
        </p:txBody>
      </p:sp>
      <p:sp>
        <p:nvSpPr>
          <p:cNvPr id="37" name="Text 33"/>
          <p:cNvSpPr/>
          <p:nvPr/>
        </p:nvSpPr>
        <p:spPr>
          <a:xfrm>
            <a:off x="9738360" y="3474720"/>
            <a:ext cx="14173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是任务办理链路</a:t>
            </a:r>
            <a:endParaRPr lang="en-US" sz="1120" dirty="0"/>
          </a:p>
        </p:txBody>
      </p:sp>
      <p:sp>
        <p:nvSpPr>
          <p:cNvPr id="38" name="Text 34"/>
          <p:cNvSpPr/>
          <p:nvPr/>
        </p:nvSpPr>
        <p:spPr>
          <a:xfrm>
            <a:off x="9738360" y="3886200"/>
            <a:ext cx="14173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C783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可运行、可复核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384048"/>
            <a:ext cx="1572768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08208" y="384048"/>
            <a:ext cx="0" cy="713232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48672" y="566928"/>
            <a:ext cx="685800" cy="0"/>
          </a:xfrm>
          <a:prstGeom prst="line">
            <a:avLst/>
          </a:prstGeom>
          <a:noFill/>
          <a:ln w="1143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34472" y="566928"/>
            <a:ext cx="0" cy="50292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62488" y="1078992"/>
            <a:ext cx="73152" cy="73152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6254496"/>
            <a:ext cx="1609344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5623560"/>
            <a:ext cx="0" cy="630936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6089904"/>
            <a:ext cx="987552" cy="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5669280"/>
            <a:ext cx="0" cy="420624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5550408"/>
            <a:ext cx="64008" cy="64008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pic>
        <p:nvPicPr>
          <p:cNvPr id="12" name="Image 0" descr="/mnt/data/lexhub_brand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01752"/>
            <a:ext cx="1920240" cy="7315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3232" y="112471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技术架构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31520" y="15361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 Co-Sight 底座扩展法律工作流、知识库、工具链与可信链路。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1901952"/>
            <a:ext cx="10735056" cy="0"/>
          </a:xfrm>
          <a:prstGeom prst="line">
            <a:avLst/>
          </a:prstGeom>
          <a:noFill/>
          <a:ln w="10160">
            <a:solidFill>
              <a:srgbClr val="E7EC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55680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60120" y="2130552"/>
            <a:ext cx="97383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0120" y="2130552"/>
            <a:ext cx="73152" cy="420624"/>
          </a:xfrm>
          <a:prstGeom prst="rect">
            <a:avLst/>
          </a:prstGeom>
          <a:solidFill>
            <a:srgbClr val="08285A"/>
          </a:solidFill>
          <a:ln w="12700">
            <a:solidFill>
              <a:srgbClr val="0828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70432" y="2240280"/>
            <a:ext cx="13258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用户交互层</a:t>
            </a:r>
            <a:endParaRPr lang="en-US" sz="1180" dirty="0"/>
          </a:p>
        </p:txBody>
      </p:sp>
      <p:sp>
        <p:nvSpPr>
          <p:cNvPr id="20" name="Text 17"/>
          <p:cNvSpPr/>
          <p:nvPr/>
        </p:nvSpPr>
        <p:spPr>
          <a:xfrm>
            <a:off x="2697480" y="2240280"/>
            <a:ext cx="77266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 / 执行页 / 结果页 / 材料库 / 回放页 / 管理端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960120" y="2752344"/>
            <a:ext cx="9738360" cy="420624"/>
          </a:xfrm>
          <a:prstGeom prst="roundRect">
            <a:avLst>
              <a:gd name="adj" fmla="val 17391"/>
            </a:avLst>
          </a:prstGeom>
          <a:solidFill>
            <a:srgbClr val="FBFCFE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60120" y="2752344"/>
            <a:ext cx="73152" cy="420624"/>
          </a:xfrm>
          <a:prstGeom prst="rect">
            <a:avLst/>
          </a:prstGeom>
          <a:solidFill>
            <a:srgbClr val="007F73"/>
          </a:solidFill>
          <a:ln w="12700">
            <a:solidFill>
              <a:srgbClr val="007F7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70432" y="2862072"/>
            <a:ext cx="13258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07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后端服务层</a:t>
            </a:r>
            <a:endParaRPr lang="en-US" sz="1180" dirty="0"/>
          </a:p>
        </p:txBody>
      </p:sp>
      <p:sp>
        <p:nvSpPr>
          <p:cNvPr id="24" name="Text 21"/>
          <p:cNvSpPr/>
          <p:nvPr/>
        </p:nvSpPr>
        <p:spPr>
          <a:xfrm>
            <a:off x="2697480" y="2862072"/>
            <a:ext cx="77266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上传 · 知识库 · 文书导出 · 审计日志 · 运行配置</a:t>
            </a:r>
            <a:endParaRPr lang="en-US" sz="1120" dirty="0"/>
          </a:p>
        </p:txBody>
      </p:sp>
      <p:sp>
        <p:nvSpPr>
          <p:cNvPr id="25" name="Shape 22"/>
          <p:cNvSpPr/>
          <p:nvPr/>
        </p:nvSpPr>
        <p:spPr>
          <a:xfrm>
            <a:off x="960120" y="3374136"/>
            <a:ext cx="97383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6510">
            <a:solidFill>
              <a:srgbClr val="C7830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60120" y="3374136"/>
            <a:ext cx="73152" cy="420624"/>
          </a:xfrm>
          <a:prstGeom prst="rect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70432" y="3483864"/>
            <a:ext cx="13258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C783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智能体编排层</a:t>
            </a:r>
            <a:endParaRPr lang="en-US" sz="1180" dirty="0"/>
          </a:p>
        </p:txBody>
      </p:sp>
      <p:sp>
        <p:nvSpPr>
          <p:cNvPr id="28" name="Text 25"/>
          <p:cNvSpPr/>
          <p:nvPr/>
        </p:nvSpPr>
        <p:spPr>
          <a:xfrm>
            <a:off x="2697480" y="3483864"/>
            <a:ext cx="77266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Co-Sight 多智能体 · DAG · 工具调用 · Replay</a:t>
            </a:r>
            <a:endParaRPr lang="en-US" sz="1120" dirty="0"/>
          </a:p>
        </p:txBody>
      </p:sp>
      <p:sp>
        <p:nvSpPr>
          <p:cNvPr id="29" name="Shape 26"/>
          <p:cNvSpPr/>
          <p:nvPr/>
        </p:nvSpPr>
        <p:spPr>
          <a:xfrm>
            <a:off x="960120" y="3995928"/>
            <a:ext cx="9738360" cy="420624"/>
          </a:xfrm>
          <a:prstGeom prst="roundRect">
            <a:avLst>
              <a:gd name="adj" fmla="val 17391"/>
            </a:avLst>
          </a:prstGeom>
          <a:solidFill>
            <a:srgbClr val="FBFCFE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60120" y="3995928"/>
            <a:ext cx="73152" cy="420624"/>
          </a:xfrm>
          <a:prstGeom prst="rect">
            <a:avLst/>
          </a:prstGeom>
          <a:solidFill>
            <a:srgbClr val="12386E"/>
          </a:solidFill>
          <a:ln w="12700">
            <a:solidFill>
              <a:srgbClr val="12386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70432" y="4105656"/>
            <a:ext cx="13258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238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工具与知识层</a:t>
            </a:r>
            <a:endParaRPr lang="en-US" sz="1180" dirty="0"/>
          </a:p>
        </p:txBody>
      </p:sp>
      <p:sp>
        <p:nvSpPr>
          <p:cNvPr id="32" name="Text 29"/>
          <p:cNvSpPr/>
          <p:nvPr/>
        </p:nvSpPr>
        <p:spPr>
          <a:xfrm>
            <a:off x="2697480" y="4105656"/>
            <a:ext cx="77266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法规 RAG · 联网搜索 · 文档处理 · DOCX/PDF 导出</a:t>
            </a:r>
            <a:endParaRPr lang="en-US" sz="1120" dirty="0"/>
          </a:p>
        </p:txBody>
      </p:sp>
      <p:sp>
        <p:nvSpPr>
          <p:cNvPr id="33" name="Shape 30"/>
          <p:cNvSpPr/>
          <p:nvPr/>
        </p:nvSpPr>
        <p:spPr>
          <a:xfrm>
            <a:off x="960120" y="4617720"/>
            <a:ext cx="97383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60120" y="4617720"/>
            <a:ext cx="73152" cy="420624"/>
          </a:xfrm>
          <a:prstGeom prst="rect">
            <a:avLst/>
          </a:prstGeom>
          <a:solidFill>
            <a:srgbClr val="007F73"/>
          </a:solidFill>
          <a:ln w="12700">
            <a:solidFill>
              <a:srgbClr val="007F7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70432" y="4727448"/>
            <a:ext cx="13258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07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可信与数据层</a:t>
            </a:r>
            <a:endParaRPr lang="en-US" sz="1180" dirty="0"/>
          </a:p>
        </p:txBody>
      </p:sp>
      <p:sp>
        <p:nvSpPr>
          <p:cNvPr id="36" name="Text 33"/>
          <p:cNvSpPr/>
          <p:nvPr/>
        </p:nvSpPr>
        <p:spPr>
          <a:xfrm>
            <a:off x="2697480" y="4727448"/>
            <a:ext cx="77266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Execution Snapshot · Audit Log · 权限边界</a:t>
            </a:r>
            <a:endParaRPr lang="en-US" sz="1120" dirty="0"/>
          </a:p>
        </p:txBody>
      </p:sp>
      <p:sp>
        <p:nvSpPr>
          <p:cNvPr id="37" name="Shape 34"/>
          <p:cNvSpPr/>
          <p:nvPr/>
        </p:nvSpPr>
        <p:spPr>
          <a:xfrm>
            <a:off x="1828800" y="5577840"/>
            <a:ext cx="80467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0160">
            <a:solidFill>
              <a:srgbClr val="E7ECF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048256" y="5705856"/>
            <a:ext cx="7635240" cy="1554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配置落点：legal-workflow.json  ·  agent-registry.json  ·  legal_search_toolkit.py</a:t>
            </a:r>
            <a:endParaRPr lang="en-US" sz="9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384048"/>
            <a:ext cx="1572768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08208" y="384048"/>
            <a:ext cx="0" cy="713232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48672" y="566928"/>
            <a:ext cx="685800" cy="0"/>
          </a:xfrm>
          <a:prstGeom prst="line">
            <a:avLst/>
          </a:prstGeom>
          <a:noFill/>
          <a:ln w="1143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34472" y="566928"/>
            <a:ext cx="0" cy="50292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62488" y="1078992"/>
            <a:ext cx="73152" cy="73152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6254496"/>
            <a:ext cx="1609344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5623560"/>
            <a:ext cx="0" cy="630936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6089904"/>
            <a:ext cx="987552" cy="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5669280"/>
            <a:ext cx="0" cy="420624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5550408"/>
            <a:ext cx="64008" cy="64008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pic>
        <p:nvPicPr>
          <p:cNvPr id="12" name="Image 0" descr="/mnt/data/lexhub_brand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01752"/>
            <a:ext cx="1920240" cy="7315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3232" y="112471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Co-Sight 改进对比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31520" y="15361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保留通用智能体底座能力，新增法律业务化封装与可信交付。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1901952"/>
            <a:ext cx="10735056" cy="0"/>
          </a:xfrm>
          <a:prstGeom prst="line">
            <a:avLst/>
          </a:prstGeom>
          <a:noFill/>
          <a:ln w="10160">
            <a:solidFill>
              <a:srgbClr val="E7EC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55680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2167128"/>
            <a:ext cx="2743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原生 Co-Sight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092440" y="2167128"/>
            <a:ext cx="20116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律枢 LexHub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035040" y="2057400"/>
            <a:ext cx="0" cy="3246120"/>
          </a:xfrm>
          <a:prstGeom prst="line">
            <a:avLst/>
          </a:prstGeom>
          <a:noFill/>
          <a:ln w="12700">
            <a:solidFill>
              <a:srgbClr val="D3D8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25880" y="2670048"/>
            <a:ext cx="34747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通用任务执行框架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47488" y="2779776"/>
            <a:ext cx="1463040" cy="0"/>
          </a:xfrm>
          <a:prstGeom prst="line">
            <a:avLst/>
          </a:prstGeom>
          <a:noFill/>
          <a:ln w="13970">
            <a:solidFill>
              <a:srgbClr val="C78300"/>
            </a:solidFill>
            <a:prstDash val="solid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6784848" y="2670048"/>
            <a:ext cx="39319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法律业务智能服务平台</a:t>
            </a:r>
            <a:endParaRPr lang="en-US" sz="1120" dirty="0"/>
          </a:p>
        </p:txBody>
      </p:sp>
      <p:sp>
        <p:nvSpPr>
          <p:cNvPr id="23" name="Text 20"/>
          <p:cNvSpPr/>
          <p:nvPr/>
        </p:nvSpPr>
        <p:spPr>
          <a:xfrm>
            <a:off x="1325880" y="3200400"/>
            <a:ext cx="34747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通用 Agent / Tool / Replay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047488" y="3310128"/>
            <a:ext cx="1463040" cy="0"/>
          </a:xfrm>
          <a:prstGeom prst="line">
            <a:avLst/>
          </a:prstGeom>
          <a:noFill/>
          <a:ln w="13970">
            <a:solidFill>
              <a:srgbClr val="C78300"/>
            </a:solidFill>
            <a:prstDash val="solid"/>
            <a:tailEnd type="triangle"/>
          </a:ln>
        </p:spPr>
      </p:sp>
      <p:sp>
        <p:nvSpPr>
          <p:cNvPr id="25" name="Text 22"/>
          <p:cNvSpPr/>
          <p:nvPr/>
        </p:nvSpPr>
        <p:spPr>
          <a:xfrm>
            <a:off x="6784848" y="3200400"/>
            <a:ext cx="39319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法律智能体 / 法规 RAG / 文书导出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1325880" y="3730752"/>
            <a:ext cx="34747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通用执行日志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047488" y="3840480"/>
            <a:ext cx="1463040" cy="0"/>
          </a:xfrm>
          <a:prstGeom prst="line">
            <a:avLst/>
          </a:prstGeom>
          <a:noFill/>
          <a:ln w="13970">
            <a:solidFill>
              <a:srgbClr val="C78300"/>
            </a:solidFill>
            <a:prstDash val="solid"/>
            <a:tailEnd type="triangle"/>
          </a:ln>
        </p:spPr>
      </p:sp>
      <p:sp>
        <p:nvSpPr>
          <p:cNvPr id="28" name="Text 25"/>
          <p:cNvSpPr/>
          <p:nvPr/>
        </p:nvSpPr>
        <p:spPr>
          <a:xfrm>
            <a:off x="6784848" y="3730752"/>
            <a:ext cx="39319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DAG 执行视图 + 审计链 + 复核入口</a:t>
            </a:r>
            <a:endParaRPr lang="en-US" sz="1120" dirty="0"/>
          </a:p>
        </p:txBody>
      </p:sp>
      <p:sp>
        <p:nvSpPr>
          <p:cNvPr id="29" name="Text 26"/>
          <p:cNvSpPr/>
          <p:nvPr/>
        </p:nvSpPr>
        <p:spPr>
          <a:xfrm>
            <a:off x="1325880" y="4261104"/>
            <a:ext cx="34747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通用工具调用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047488" y="4370832"/>
            <a:ext cx="1463040" cy="0"/>
          </a:xfrm>
          <a:prstGeom prst="line">
            <a:avLst/>
          </a:prstGeom>
          <a:noFill/>
          <a:ln w="13970">
            <a:solidFill>
              <a:srgbClr val="C78300"/>
            </a:solidFill>
            <a:prstDash val="solid"/>
            <a:tailEnd type="triangle"/>
          </a:ln>
        </p:spPr>
      </p:sp>
      <p:sp>
        <p:nvSpPr>
          <p:cNvPr id="31" name="Text 28"/>
          <p:cNvSpPr/>
          <p:nvPr/>
        </p:nvSpPr>
        <p:spPr>
          <a:xfrm>
            <a:off x="6784848" y="4261104"/>
            <a:ext cx="39319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法律检索、材料库、导出、审计</a:t>
            </a:r>
            <a:endParaRPr lang="en-US" sz="1120" dirty="0"/>
          </a:p>
        </p:txBody>
      </p:sp>
      <p:sp>
        <p:nvSpPr>
          <p:cNvPr id="32" name="Shape 29"/>
          <p:cNvSpPr/>
          <p:nvPr/>
        </p:nvSpPr>
        <p:spPr>
          <a:xfrm>
            <a:off x="3246120" y="5166360"/>
            <a:ext cx="565099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783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474720" y="5312664"/>
            <a:ext cx="519379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C783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继承底座能力  +  法律工作流 / 知识库 / 业务页面 / 审计交付</a:t>
            </a:r>
            <a:endParaRPr lang="en-US" sz="11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384048"/>
            <a:ext cx="1572768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08208" y="384048"/>
            <a:ext cx="0" cy="713232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48672" y="566928"/>
            <a:ext cx="685800" cy="0"/>
          </a:xfrm>
          <a:prstGeom prst="line">
            <a:avLst/>
          </a:prstGeom>
          <a:noFill/>
          <a:ln w="1143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34472" y="566928"/>
            <a:ext cx="0" cy="50292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62488" y="1078992"/>
            <a:ext cx="73152" cy="73152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6254496"/>
            <a:ext cx="1609344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5623560"/>
            <a:ext cx="0" cy="630936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6089904"/>
            <a:ext cx="987552" cy="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5669280"/>
            <a:ext cx="0" cy="420624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5550408"/>
            <a:ext cx="64008" cy="64008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pic>
        <p:nvPicPr>
          <p:cNvPr id="12" name="Image 0" descr="/mnt/data/lexhub_brand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01752"/>
            <a:ext cx="1920240" cy="7315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3232" y="112471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智能体角色分工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31520" y="15361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将法律任务拆给不同智能体，避免单一模型一次性给出不可复核的结论。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1901952"/>
            <a:ext cx="10735056" cy="0"/>
          </a:xfrm>
          <a:prstGeom prst="line">
            <a:avLst/>
          </a:prstGeom>
          <a:noFill/>
          <a:ln w="10160">
            <a:solidFill>
              <a:srgbClr val="E7EC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55680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617720" y="2788920"/>
            <a:ext cx="193852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7780">
            <a:solidFill>
              <a:srgbClr val="0828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36592" y="2898648"/>
            <a:ext cx="1700784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任务理解智能体</a:t>
            </a:r>
            <a:endParaRPr lang="en-US" sz="1170" dirty="0"/>
          </a:p>
          <a:p>
            <a:pPr algn="ctr" indent="0" marL="0">
              <a:buNone/>
            </a:pPr>
            <a:r>
              <a:rPr lang="en-US" sz="117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调度者</a:t>
            </a:r>
            <a:endParaRPr lang="en-US" sz="1170" dirty="0"/>
          </a:p>
        </p:txBody>
      </p:sp>
      <p:sp>
        <p:nvSpPr>
          <p:cNvPr id="19" name="Shape 16"/>
          <p:cNvSpPr/>
          <p:nvPr/>
        </p:nvSpPr>
        <p:spPr>
          <a:xfrm>
            <a:off x="1828800" y="2148840"/>
            <a:ext cx="157276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4605">
            <a:solidFill>
              <a:srgbClr val="007F7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965960" y="2240280"/>
            <a:ext cx="1298448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007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证据质检</a:t>
            </a:r>
            <a:endParaRPr lang="en-US" sz="1130" dirty="0"/>
          </a:p>
        </p:txBody>
      </p:sp>
      <p:sp>
        <p:nvSpPr>
          <p:cNvPr id="21" name="Text 18"/>
          <p:cNvSpPr/>
          <p:nvPr/>
        </p:nvSpPr>
        <p:spPr>
          <a:xfrm>
            <a:off x="1965960" y="2468880"/>
            <a:ext cx="1298448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材料清单 / 证据缺口</a:t>
            </a:r>
            <a:endParaRPr lang="en-US" sz="820" dirty="0"/>
          </a:p>
        </p:txBody>
      </p:sp>
      <p:sp>
        <p:nvSpPr>
          <p:cNvPr id="22" name="Shape 19"/>
          <p:cNvSpPr/>
          <p:nvPr/>
        </p:nvSpPr>
        <p:spPr>
          <a:xfrm>
            <a:off x="7863840" y="2148840"/>
            <a:ext cx="157276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4605">
            <a:solidFill>
              <a:srgbClr val="007F7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01000" y="2240280"/>
            <a:ext cx="1298448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007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法规研究</a:t>
            </a:r>
            <a:endParaRPr lang="en-US" sz="1130" dirty="0"/>
          </a:p>
        </p:txBody>
      </p:sp>
      <p:sp>
        <p:nvSpPr>
          <p:cNvPr id="24" name="Text 21"/>
          <p:cNvSpPr/>
          <p:nvPr/>
        </p:nvSpPr>
        <p:spPr>
          <a:xfrm>
            <a:off x="8001000" y="2468880"/>
            <a:ext cx="1298448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法规检索 / 引用溯源</a:t>
            </a:r>
            <a:endParaRPr lang="en-US" sz="820" dirty="0"/>
          </a:p>
        </p:txBody>
      </p:sp>
      <p:sp>
        <p:nvSpPr>
          <p:cNvPr id="25" name="Shape 22"/>
          <p:cNvSpPr/>
          <p:nvPr/>
        </p:nvSpPr>
        <p:spPr>
          <a:xfrm>
            <a:off x="1828800" y="4160520"/>
            <a:ext cx="157276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4605">
            <a:solidFill>
              <a:srgbClr val="C783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965960" y="4251960"/>
            <a:ext cx="1298448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C783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文书生成</a:t>
            </a:r>
            <a:endParaRPr lang="en-US" sz="1130" dirty="0"/>
          </a:p>
        </p:txBody>
      </p:sp>
      <p:sp>
        <p:nvSpPr>
          <p:cNvPr id="27" name="Text 24"/>
          <p:cNvSpPr/>
          <p:nvPr/>
        </p:nvSpPr>
        <p:spPr>
          <a:xfrm>
            <a:off x="1965960" y="4480560"/>
            <a:ext cx="1298448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 / 律师函 / 结论</a:t>
            </a:r>
            <a:endParaRPr lang="en-US" sz="820" dirty="0"/>
          </a:p>
        </p:txBody>
      </p:sp>
      <p:sp>
        <p:nvSpPr>
          <p:cNvPr id="28" name="Shape 25"/>
          <p:cNvSpPr/>
          <p:nvPr/>
        </p:nvSpPr>
        <p:spPr>
          <a:xfrm>
            <a:off x="7863840" y="4160520"/>
            <a:ext cx="157276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4605">
            <a:solidFill>
              <a:srgbClr val="C783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01000" y="4251960"/>
            <a:ext cx="1298448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C783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交叉审查</a:t>
            </a:r>
            <a:endParaRPr lang="en-US" sz="1130" dirty="0"/>
          </a:p>
        </p:txBody>
      </p:sp>
      <p:sp>
        <p:nvSpPr>
          <p:cNvPr id="30" name="Text 27"/>
          <p:cNvSpPr/>
          <p:nvPr/>
        </p:nvSpPr>
        <p:spPr>
          <a:xfrm>
            <a:off x="8001000" y="4480560"/>
            <a:ext cx="1298448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一致性 / 风险标记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4663440" y="5230368"/>
            <a:ext cx="157276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4605">
            <a:solidFill>
              <a:srgbClr val="12386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00600" y="5321808"/>
            <a:ext cx="1298448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238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合规监测</a:t>
            </a:r>
            <a:endParaRPr lang="en-US" sz="1130" dirty="0"/>
          </a:p>
        </p:txBody>
      </p:sp>
      <p:sp>
        <p:nvSpPr>
          <p:cNvPr id="33" name="Text 30"/>
          <p:cNvSpPr/>
          <p:nvPr/>
        </p:nvSpPr>
        <p:spPr>
          <a:xfrm>
            <a:off x="4800600" y="5550408"/>
            <a:ext cx="1298448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审计链 / 导出门禁</a:t>
            </a:r>
            <a:endParaRPr lang="en-US" sz="820" dirty="0"/>
          </a:p>
        </p:txBody>
      </p:sp>
      <p:sp>
        <p:nvSpPr>
          <p:cNvPr id="34" name="Shape 31"/>
          <p:cNvSpPr/>
          <p:nvPr/>
        </p:nvSpPr>
        <p:spPr>
          <a:xfrm>
            <a:off x="8961120" y="5257800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BFCFE"/>
          </a:solidFill>
          <a:ln w="10160">
            <a:solidFill>
              <a:srgbClr val="E4E9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125712" y="5440680"/>
            <a:ext cx="178308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角色逻辑：调度者 → 工作者 → 审查者</a:t>
            </a:r>
            <a:endParaRPr lang="en-US" sz="9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384048"/>
            <a:ext cx="1572768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08208" y="384048"/>
            <a:ext cx="0" cy="713232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48672" y="566928"/>
            <a:ext cx="685800" cy="0"/>
          </a:xfrm>
          <a:prstGeom prst="line">
            <a:avLst/>
          </a:prstGeom>
          <a:noFill/>
          <a:ln w="1143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34472" y="566928"/>
            <a:ext cx="0" cy="50292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62488" y="1078992"/>
            <a:ext cx="73152" cy="73152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6254496"/>
            <a:ext cx="1609344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5623560"/>
            <a:ext cx="0" cy="630936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6089904"/>
            <a:ext cx="987552" cy="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5669280"/>
            <a:ext cx="0" cy="420624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5550408"/>
            <a:ext cx="64008" cy="64008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pic>
        <p:nvPicPr>
          <p:cNvPr id="12" name="Image 0" descr="/mnt/data/lexhub_brand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01752"/>
            <a:ext cx="1920240" cy="7315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3232" y="112471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法律任务 DAG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31520" y="15361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 DAG 管理法律任务阶段、触发条件和导出前复核。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1901952"/>
            <a:ext cx="10735056" cy="0"/>
          </a:xfrm>
          <a:prstGeom prst="line">
            <a:avLst/>
          </a:prstGeom>
          <a:noFill/>
          <a:ln w="10160">
            <a:solidFill>
              <a:srgbClr val="E7EC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55680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68680" y="2880360"/>
            <a:ext cx="106070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3970">
            <a:solidFill>
              <a:srgbClr val="0828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1832" y="3008376"/>
            <a:ext cx="91440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材料接入</a:t>
            </a:r>
            <a:endParaRPr lang="en-US" sz="990" dirty="0"/>
          </a:p>
        </p:txBody>
      </p:sp>
      <p:sp>
        <p:nvSpPr>
          <p:cNvPr id="19" name="Shape 16"/>
          <p:cNvSpPr/>
          <p:nvPr/>
        </p:nvSpPr>
        <p:spPr>
          <a:xfrm>
            <a:off x="2331720" y="2880360"/>
            <a:ext cx="106070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3970">
            <a:solidFill>
              <a:srgbClr val="1238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404872" y="3008376"/>
            <a:ext cx="91440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1238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任务理解</a:t>
            </a:r>
            <a:endParaRPr lang="en-US" sz="990" dirty="0"/>
          </a:p>
        </p:txBody>
      </p:sp>
      <p:sp>
        <p:nvSpPr>
          <p:cNvPr id="21" name="Shape 18"/>
          <p:cNvSpPr/>
          <p:nvPr/>
        </p:nvSpPr>
        <p:spPr>
          <a:xfrm>
            <a:off x="3794760" y="2404872"/>
            <a:ext cx="106070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3970">
            <a:solidFill>
              <a:srgbClr val="007F7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67912" y="2532888"/>
            <a:ext cx="91440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007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证据质检</a:t>
            </a:r>
            <a:endParaRPr lang="en-US" sz="990" dirty="0"/>
          </a:p>
        </p:txBody>
      </p:sp>
      <p:sp>
        <p:nvSpPr>
          <p:cNvPr id="23" name="Shape 20"/>
          <p:cNvSpPr/>
          <p:nvPr/>
        </p:nvSpPr>
        <p:spPr>
          <a:xfrm>
            <a:off x="3794760" y="3355848"/>
            <a:ext cx="106070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3970">
            <a:solidFill>
              <a:srgbClr val="007F7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67912" y="3483864"/>
            <a:ext cx="91440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007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法规研究</a:t>
            </a:r>
            <a:endParaRPr lang="en-US" sz="990" dirty="0"/>
          </a:p>
        </p:txBody>
      </p:sp>
      <p:sp>
        <p:nvSpPr>
          <p:cNvPr id="25" name="Shape 22"/>
          <p:cNvSpPr/>
          <p:nvPr/>
        </p:nvSpPr>
        <p:spPr>
          <a:xfrm>
            <a:off x="5532120" y="2880360"/>
            <a:ext cx="106070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3970">
            <a:solidFill>
              <a:srgbClr val="C783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05272" y="3008376"/>
            <a:ext cx="91440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C783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文书生成</a:t>
            </a:r>
            <a:endParaRPr lang="en-US" sz="990" dirty="0"/>
          </a:p>
        </p:txBody>
      </p:sp>
      <p:sp>
        <p:nvSpPr>
          <p:cNvPr id="27" name="Shape 24"/>
          <p:cNvSpPr/>
          <p:nvPr/>
        </p:nvSpPr>
        <p:spPr>
          <a:xfrm>
            <a:off x="7178040" y="2880360"/>
            <a:ext cx="106070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3970">
            <a:solidFill>
              <a:srgbClr val="0828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251192" y="3008376"/>
            <a:ext cx="91440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交叉审查</a:t>
            </a:r>
            <a:endParaRPr lang="en-US" sz="990" dirty="0"/>
          </a:p>
        </p:txBody>
      </p:sp>
      <p:sp>
        <p:nvSpPr>
          <p:cNvPr id="29" name="Shape 26"/>
          <p:cNvSpPr/>
          <p:nvPr/>
        </p:nvSpPr>
        <p:spPr>
          <a:xfrm>
            <a:off x="8732520" y="2880360"/>
            <a:ext cx="106070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3970">
            <a:solidFill>
              <a:srgbClr val="007F7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805672" y="3008376"/>
            <a:ext cx="91440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007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合规监测</a:t>
            </a:r>
            <a:endParaRPr lang="en-US" sz="990" dirty="0"/>
          </a:p>
        </p:txBody>
      </p:sp>
      <p:sp>
        <p:nvSpPr>
          <p:cNvPr id="31" name="Shape 28"/>
          <p:cNvSpPr/>
          <p:nvPr/>
        </p:nvSpPr>
        <p:spPr>
          <a:xfrm>
            <a:off x="10195560" y="2880360"/>
            <a:ext cx="106070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3970">
            <a:solidFill>
              <a:srgbClr val="C783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268712" y="3008376"/>
            <a:ext cx="91440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C783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导出交付</a:t>
            </a:r>
            <a:endParaRPr lang="en-US" sz="990" dirty="0"/>
          </a:p>
        </p:txBody>
      </p:sp>
      <p:sp>
        <p:nvSpPr>
          <p:cNvPr id="33" name="Shape 30"/>
          <p:cNvSpPr/>
          <p:nvPr/>
        </p:nvSpPr>
        <p:spPr>
          <a:xfrm>
            <a:off x="2029968" y="3090672"/>
            <a:ext cx="228600" cy="0"/>
          </a:xfrm>
          <a:prstGeom prst="line">
            <a:avLst/>
          </a:prstGeom>
          <a:noFill/>
          <a:ln w="13970">
            <a:solidFill>
              <a:srgbClr val="12386E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3502152" y="3054096"/>
            <a:ext cx="228600" cy="-274320"/>
          </a:xfrm>
          <a:prstGeom prst="line">
            <a:avLst/>
          </a:prstGeom>
          <a:noFill/>
          <a:ln w="13970">
            <a:solidFill>
              <a:srgbClr val="007F73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3502152" y="3127248"/>
            <a:ext cx="228600" cy="292608"/>
          </a:xfrm>
          <a:prstGeom prst="line">
            <a:avLst/>
          </a:prstGeom>
          <a:noFill/>
          <a:ln w="13970">
            <a:solidFill>
              <a:srgbClr val="007F73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5001768" y="2642616"/>
            <a:ext cx="402336" cy="283464"/>
          </a:xfrm>
          <a:prstGeom prst="line">
            <a:avLst/>
          </a:prstGeom>
          <a:noFill/>
          <a:ln w="13970">
            <a:solidFill>
              <a:srgbClr val="C78300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5001768" y="3529584"/>
            <a:ext cx="402336" cy="-283464"/>
          </a:xfrm>
          <a:prstGeom prst="line">
            <a:avLst/>
          </a:prstGeom>
          <a:noFill/>
          <a:ln w="13970">
            <a:solidFill>
              <a:srgbClr val="C78300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6702552" y="3090672"/>
            <a:ext cx="384048" cy="0"/>
          </a:xfrm>
          <a:prstGeom prst="line">
            <a:avLst/>
          </a:prstGeom>
          <a:noFill/>
          <a:ln w="13970">
            <a:solidFill>
              <a:srgbClr val="08285A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8348472" y="3090672"/>
            <a:ext cx="310896" cy="0"/>
          </a:xfrm>
          <a:prstGeom prst="line">
            <a:avLst/>
          </a:prstGeom>
          <a:noFill/>
          <a:ln w="13970">
            <a:solidFill>
              <a:srgbClr val="007F73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9902952" y="3090672"/>
            <a:ext cx="228600" cy="0"/>
          </a:xfrm>
          <a:prstGeom prst="line">
            <a:avLst/>
          </a:prstGeom>
          <a:noFill/>
          <a:ln w="13970">
            <a:solidFill>
              <a:srgbClr val="C78300"/>
            </a:solidFill>
            <a:prstDash val="solid"/>
            <a:tailEnd type="triangle"/>
          </a:ln>
        </p:spPr>
      </p:sp>
      <p:sp>
        <p:nvSpPr>
          <p:cNvPr id="41" name="Text 38"/>
          <p:cNvSpPr/>
          <p:nvPr/>
        </p:nvSpPr>
        <p:spPr>
          <a:xfrm>
            <a:off x="1508760" y="4956048"/>
            <a:ext cx="42062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条件触发：材料完整度 / 引用覆盖 / 风险等级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400800" y="4956048"/>
            <a:ext cx="43891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强制节点：交叉审查 / 合规监测 / 导出前复核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035040" y="4828032"/>
            <a:ext cx="0" cy="411480"/>
          </a:xfrm>
          <a:prstGeom prst="line">
            <a:avLst/>
          </a:prstGeom>
          <a:noFill/>
          <a:ln w="12700">
            <a:solidFill>
              <a:srgbClr val="E4E9F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384048"/>
            <a:ext cx="1572768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08208" y="384048"/>
            <a:ext cx="0" cy="713232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48672" y="566928"/>
            <a:ext cx="685800" cy="0"/>
          </a:xfrm>
          <a:prstGeom prst="line">
            <a:avLst/>
          </a:prstGeom>
          <a:noFill/>
          <a:ln w="1143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34472" y="566928"/>
            <a:ext cx="0" cy="50292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62488" y="1078992"/>
            <a:ext cx="73152" cy="73152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6254496"/>
            <a:ext cx="1609344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5623560"/>
            <a:ext cx="0" cy="630936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6089904"/>
            <a:ext cx="987552" cy="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5669280"/>
            <a:ext cx="0" cy="420624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5550408"/>
            <a:ext cx="64008" cy="64008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pic>
        <p:nvPicPr>
          <p:cNvPr id="12" name="Image 0" descr="/mnt/data/lexhub_brand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01752"/>
            <a:ext cx="1920240" cy="7315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3232" y="112471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功能演示：任务执行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31520" y="15361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从任务提交到 DAG 执行，展示系统已经跑通完整任务链路前半段。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1901952"/>
            <a:ext cx="10735056" cy="0"/>
          </a:xfrm>
          <a:prstGeom prst="line">
            <a:avLst/>
          </a:prstGeom>
          <a:noFill/>
          <a:ln w="10160">
            <a:solidFill>
              <a:srgbClr val="E7EC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55680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005840" y="2130552"/>
            <a:ext cx="237744" cy="237744"/>
          </a:xfrm>
          <a:prstGeom prst="ellipse">
            <a:avLst/>
          </a:prstGeom>
          <a:solidFill>
            <a:srgbClr val="08285A"/>
          </a:solidFill>
          <a:ln w="12700">
            <a:solidFill>
              <a:srgbClr val="0828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83564" y="2194560"/>
            <a:ext cx="73152" cy="731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550" dirty="0"/>
          </a:p>
        </p:txBody>
      </p:sp>
      <p:sp>
        <p:nvSpPr>
          <p:cNvPr id="19" name="Text 16"/>
          <p:cNvSpPr/>
          <p:nvPr/>
        </p:nvSpPr>
        <p:spPr>
          <a:xfrm>
            <a:off x="1307592" y="2148840"/>
            <a:ext cx="107899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登录系统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240280" y="2249424"/>
            <a:ext cx="475488" cy="0"/>
          </a:xfrm>
          <a:prstGeom prst="line">
            <a:avLst/>
          </a:prstGeom>
          <a:noFill/>
          <a:ln w="12700">
            <a:solidFill>
              <a:srgbClr val="D4DCE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953512" y="2130552"/>
            <a:ext cx="237744" cy="237744"/>
          </a:xfrm>
          <a:prstGeom prst="ellipse">
            <a:avLst/>
          </a:prstGeom>
          <a:solidFill>
            <a:srgbClr val="08285A"/>
          </a:solidFill>
          <a:ln w="12700">
            <a:solidFill>
              <a:srgbClr val="0828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031236" y="2194560"/>
            <a:ext cx="73152" cy="731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3255264" y="2148840"/>
            <a:ext cx="107899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选择场景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187952" y="2249424"/>
            <a:ext cx="475488" cy="0"/>
          </a:xfrm>
          <a:prstGeom prst="line">
            <a:avLst/>
          </a:prstGeom>
          <a:noFill/>
          <a:ln w="12700">
            <a:solidFill>
              <a:srgbClr val="D4DCE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901184" y="2130552"/>
            <a:ext cx="237744" cy="237744"/>
          </a:xfrm>
          <a:prstGeom prst="ellipse">
            <a:avLst/>
          </a:prstGeom>
          <a:solidFill>
            <a:srgbClr val="08285A"/>
          </a:solidFill>
          <a:ln w="12700">
            <a:solidFill>
              <a:srgbClr val="0828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78908" y="2194560"/>
            <a:ext cx="73152" cy="731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550" dirty="0"/>
          </a:p>
        </p:txBody>
      </p:sp>
      <p:sp>
        <p:nvSpPr>
          <p:cNvPr id="27" name="Text 24"/>
          <p:cNvSpPr/>
          <p:nvPr/>
        </p:nvSpPr>
        <p:spPr>
          <a:xfrm>
            <a:off x="5202936" y="2148840"/>
            <a:ext cx="107899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上传材料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135624" y="2249424"/>
            <a:ext cx="475488" cy="0"/>
          </a:xfrm>
          <a:prstGeom prst="line">
            <a:avLst/>
          </a:prstGeom>
          <a:noFill/>
          <a:ln w="12700">
            <a:solidFill>
              <a:srgbClr val="D4DCE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848856" y="2130552"/>
            <a:ext cx="237744" cy="237744"/>
          </a:xfrm>
          <a:prstGeom prst="ellipse">
            <a:avLst/>
          </a:prstGeom>
          <a:solidFill>
            <a:srgbClr val="08285A"/>
          </a:solidFill>
          <a:ln w="12700">
            <a:solidFill>
              <a:srgbClr val="08285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26580" y="2194560"/>
            <a:ext cx="73152" cy="731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550" dirty="0"/>
          </a:p>
        </p:txBody>
      </p:sp>
      <p:sp>
        <p:nvSpPr>
          <p:cNvPr id="31" name="Text 28"/>
          <p:cNvSpPr/>
          <p:nvPr/>
        </p:nvSpPr>
        <p:spPr>
          <a:xfrm>
            <a:off x="7150608" y="2148840"/>
            <a:ext cx="107899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提交任务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8083296" y="2249424"/>
            <a:ext cx="475488" cy="0"/>
          </a:xfrm>
          <a:prstGeom prst="line">
            <a:avLst/>
          </a:prstGeom>
          <a:noFill/>
          <a:ln w="12700">
            <a:solidFill>
              <a:srgbClr val="D4DCE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796528" y="2130552"/>
            <a:ext cx="237744" cy="237744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874252" y="2194560"/>
            <a:ext cx="73152" cy="731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550" dirty="0"/>
          </a:p>
        </p:txBody>
      </p:sp>
      <p:sp>
        <p:nvSpPr>
          <p:cNvPr id="35" name="Text 32"/>
          <p:cNvSpPr/>
          <p:nvPr/>
        </p:nvSpPr>
        <p:spPr>
          <a:xfrm>
            <a:off x="9098280" y="2148840"/>
            <a:ext cx="107899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查看 DAG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960120" y="2816352"/>
            <a:ext cx="49834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60120" y="2816352"/>
            <a:ext cx="4983480" cy="274320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143000" y="3502152"/>
            <a:ext cx="46177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工作台任务提交截图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463040" y="3959352"/>
            <a:ext cx="39319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场景选择 / 材料上传 / Prompt / 任务提交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272784" y="2816352"/>
            <a:ext cx="49834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272784" y="2816352"/>
            <a:ext cx="4983480" cy="274320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446520" y="3502152"/>
            <a:ext cx="4626864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DAG 执行与工具轨迹截图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720840" y="3959352"/>
            <a:ext cx="4023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阶段状态 / 工具调用 / 智能体输出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3657600" y="5349240"/>
            <a:ext cx="49377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C783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后续替换为真实系统截图即可，外框与字号已统一。</a:t>
            </a:r>
            <a:endParaRPr lang="en-US" sz="10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384048"/>
            <a:ext cx="1572768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08208" y="384048"/>
            <a:ext cx="0" cy="713232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48672" y="566928"/>
            <a:ext cx="685800" cy="0"/>
          </a:xfrm>
          <a:prstGeom prst="line">
            <a:avLst/>
          </a:prstGeom>
          <a:noFill/>
          <a:ln w="1143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34472" y="566928"/>
            <a:ext cx="0" cy="50292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62488" y="1078992"/>
            <a:ext cx="73152" cy="73152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6254496"/>
            <a:ext cx="1609344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5623560"/>
            <a:ext cx="0" cy="630936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6089904"/>
            <a:ext cx="987552" cy="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5669280"/>
            <a:ext cx="0" cy="420624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5550408"/>
            <a:ext cx="64008" cy="64008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pic>
        <p:nvPicPr>
          <p:cNvPr id="12" name="Image 0" descr="/mnt/data/lexhub_brand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01752"/>
            <a:ext cx="1920240" cy="7315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3232" y="112471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功能演示：结果交付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31520" y="15361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从结构化结果到文书导出和 Replay 回放，展示可交付、可复核能力。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1901952"/>
            <a:ext cx="10735056" cy="0"/>
          </a:xfrm>
          <a:prstGeom prst="line">
            <a:avLst/>
          </a:prstGeom>
          <a:noFill/>
          <a:ln w="10160">
            <a:solidFill>
              <a:srgbClr val="E7EC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55680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280160" y="2121408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0828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71600" y="2258568"/>
            <a:ext cx="13258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结果页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834640" y="2331720"/>
            <a:ext cx="731520" cy="0"/>
          </a:xfrm>
          <a:prstGeom prst="line">
            <a:avLst/>
          </a:prstGeom>
          <a:noFill/>
          <a:ln w="13970">
            <a:solidFill>
              <a:srgbClr val="C78300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3749040" y="2121408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0828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40480" y="2258568"/>
            <a:ext cx="13258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DOCX/PDF 导出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303520" y="2331720"/>
            <a:ext cx="731520" cy="0"/>
          </a:xfrm>
          <a:prstGeom prst="line">
            <a:avLst/>
          </a:prstGeom>
          <a:noFill/>
          <a:ln w="13970">
            <a:solidFill>
              <a:srgbClr val="C78300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217920" y="2121408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240">
            <a:solidFill>
              <a:srgbClr val="C783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9360" y="2258568"/>
            <a:ext cx="13258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783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Replay 回放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772400" y="2331720"/>
            <a:ext cx="731520" cy="0"/>
          </a:xfrm>
          <a:prstGeom prst="line">
            <a:avLst/>
          </a:prstGeom>
          <a:noFill/>
          <a:ln w="13970">
            <a:solidFill>
              <a:srgbClr val="C78300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8686800" y="2121408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0828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778240" y="2258568"/>
            <a:ext cx="13258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管理端配置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960120" y="2971800"/>
            <a:ext cx="49834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60120" y="2971800"/>
            <a:ext cx="4983480" cy="274320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43000" y="3639312"/>
            <a:ext cx="46177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结果页 / 文书导出截图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554480" y="4069080"/>
            <a:ext cx="37947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结构化结论 · 法规依据 · 风险提示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272784" y="2971800"/>
            <a:ext cx="49834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72784" y="2971800"/>
            <a:ext cx="4983480" cy="274320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46520" y="3639312"/>
            <a:ext cx="46177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Replay 回放截图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876288" y="4069080"/>
            <a:ext cx="3749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阶段回放 · 工具轨迹 · 审计摘要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384048"/>
            <a:ext cx="1572768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08208" y="384048"/>
            <a:ext cx="0" cy="713232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48672" y="566928"/>
            <a:ext cx="685800" cy="0"/>
          </a:xfrm>
          <a:prstGeom prst="line">
            <a:avLst/>
          </a:prstGeom>
          <a:noFill/>
          <a:ln w="1143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34472" y="566928"/>
            <a:ext cx="0" cy="50292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62488" y="1078992"/>
            <a:ext cx="73152" cy="73152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6254496"/>
            <a:ext cx="1609344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5623560"/>
            <a:ext cx="0" cy="630936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6089904"/>
            <a:ext cx="987552" cy="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5669280"/>
            <a:ext cx="0" cy="420624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5550408"/>
            <a:ext cx="64008" cy="64008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pic>
        <p:nvPicPr>
          <p:cNvPr id="12" name="Image 0" descr="/mnt/data/lexhub_brand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01752"/>
            <a:ext cx="1920240" cy="7315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3232" y="112471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法律知识与工具集成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31520" y="15361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法规 RAG、联网检索、文档解析与导出工具共同支撑法律任务。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1901952"/>
            <a:ext cx="10735056" cy="0"/>
          </a:xfrm>
          <a:prstGeom prst="line">
            <a:avLst/>
          </a:prstGeom>
          <a:noFill/>
          <a:ln w="10160">
            <a:solidFill>
              <a:srgbClr val="E7EC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55680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60120" y="2167128"/>
            <a:ext cx="205740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0160">
            <a:solidFill>
              <a:srgbClr val="E0E6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97280" y="2240280"/>
            <a:ext cx="178308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法律法规数据库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3108960" y="2304288"/>
            <a:ext cx="914400" cy="0"/>
          </a:xfrm>
          <a:prstGeom prst="line">
            <a:avLst/>
          </a:prstGeom>
          <a:noFill/>
          <a:ln w="13970">
            <a:solidFill>
              <a:srgbClr val="007F73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960120" y="2596896"/>
            <a:ext cx="205740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0160">
            <a:solidFill>
              <a:srgbClr val="E0E6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97280" y="2670048"/>
            <a:ext cx="178308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行政法规库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3108960" y="2734056"/>
            <a:ext cx="914400" cy="0"/>
          </a:xfrm>
          <a:prstGeom prst="line">
            <a:avLst/>
          </a:prstGeom>
          <a:noFill/>
          <a:ln w="13970">
            <a:solidFill>
              <a:srgbClr val="007F73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60120" y="3026664"/>
            <a:ext cx="205740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0160">
            <a:solidFill>
              <a:srgbClr val="E0E6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97280" y="3099816"/>
            <a:ext cx="178308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指导性案例</a:t>
            </a:r>
            <a:endParaRPr lang="en-US" sz="880" dirty="0"/>
          </a:p>
        </p:txBody>
      </p:sp>
      <p:sp>
        <p:nvSpPr>
          <p:cNvPr id="25" name="Shape 22"/>
          <p:cNvSpPr/>
          <p:nvPr/>
        </p:nvSpPr>
        <p:spPr>
          <a:xfrm>
            <a:off x="3108960" y="3163824"/>
            <a:ext cx="914400" cy="0"/>
          </a:xfrm>
          <a:prstGeom prst="line">
            <a:avLst/>
          </a:prstGeom>
          <a:noFill/>
          <a:ln w="13970">
            <a:solidFill>
              <a:srgbClr val="007F73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960120" y="3456432"/>
            <a:ext cx="205740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0160">
            <a:solidFill>
              <a:srgbClr val="E0E6E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97280" y="3529584"/>
            <a:ext cx="178308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裁判文书网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3108960" y="3593592"/>
            <a:ext cx="914400" cy="0"/>
          </a:xfrm>
          <a:prstGeom prst="line">
            <a:avLst/>
          </a:prstGeom>
          <a:noFill/>
          <a:ln w="13970">
            <a:solidFill>
              <a:srgbClr val="007F73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60120" y="3886200"/>
            <a:ext cx="205740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0160">
            <a:solidFill>
              <a:srgbClr val="E0E6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97280" y="3959352"/>
            <a:ext cx="178308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本地知识库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3108960" y="4023360"/>
            <a:ext cx="914400" cy="0"/>
          </a:xfrm>
          <a:prstGeom prst="line">
            <a:avLst/>
          </a:prstGeom>
          <a:noFill/>
          <a:ln w="13970">
            <a:solidFill>
              <a:srgbClr val="007F73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4187952" y="2743200"/>
            <a:ext cx="17830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240">
            <a:solidFill>
              <a:srgbClr val="007F7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370832" y="2889504"/>
            <a:ext cx="14173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法规 RAG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7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检索与摘要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080760" y="3054096"/>
            <a:ext cx="914400" cy="0"/>
          </a:xfrm>
          <a:prstGeom prst="line">
            <a:avLst/>
          </a:prstGeom>
          <a:noFill/>
          <a:ln w="13970">
            <a:solidFill>
              <a:srgbClr val="C78300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7178040" y="2304288"/>
            <a:ext cx="1965960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5240">
            <a:solidFill>
              <a:srgbClr val="C7830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452360" y="2514600"/>
            <a:ext cx="13716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legal_rag</a:t>
            </a:r>
            <a:endParaRPr lang="en-US" sz="870" dirty="0"/>
          </a:p>
        </p:txBody>
      </p:sp>
      <p:sp>
        <p:nvSpPr>
          <p:cNvPr id="37" name="Text 34"/>
          <p:cNvSpPr/>
          <p:nvPr/>
        </p:nvSpPr>
        <p:spPr>
          <a:xfrm>
            <a:off x="7452360" y="2743200"/>
            <a:ext cx="13716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</a:t>
            </a:r>
            <a:endParaRPr lang="en-US" sz="870" dirty="0"/>
          </a:p>
        </p:txBody>
      </p:sp>
      <p:sp>
        <p:nvSpPr>
          <p:cNvPr id="38" name="Text 35"/>
          <p:cNvSpPr/>
          <p:nvPr/>
        </p:nvSpPr>
        <p:spPr>
          <a:xfrm>
            <a:off x="7452360" y="2971800"/>
            <a:ext cx="13716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document_parse</a:t>
            </a:r>
            <a:endParaRPr lang="en-US" sz="870" dirty="0"/>
          </a:p>
        </p:txBody>
      </p:sp>
      <p:sp>
        <p:nvSpPr>
          <p:cNvPr id="39" name="Text 36"/>
          <p:cNvSpPr/>
          <p:nvPr/>
        </p:nvSpPr>
        <p:spPr>
          <a:xfrm>
            <a:off x="7452360" y="3200400"/>
            <a:ext cx="13716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endParaRPr lang="en-US" sz="870" dirty="0"/>
          </a:p>
        </p:txBody>
      </p:sp>
      <p:sp>
        <p:nvSpPr>
          <p:cNvPr id="40" name="Text 37"/>
          <p:cNvSpPr/>
          <p:nvPr/>
        </p:nvSpPr>
        <p:spPr>
          <a:xfrm>
            <a:off x="7452360" y="3429000"/>
            <a:ext cx="13716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audit_write</a:t>
            </a:r>
            <a:endParaRPr lang="en-US" sz="870" dirty="0"/>
          </a:p>
        </p:txBody>
      </p:sp>
      <p:sp>
        <p:nvSpPr>
          <p:cNvPr id="41" name="Shape 38"/>
          <p:cNvSpPr/>
          <p:nvPr/>
        </p:nvSpPr>
        <p:spPr>
          <a:xfrm>
            <a:off x="9281160" y="3054096"/>
            <a:ext cx="822960" cy="0"/>
          </a:xfrm>
          <a:prstGeom prst="line">
            <a:avLst/>
          </a:prstGeom>
          <a:noFill/>
          <a:ln w="13970">
            <a:solidFill>
              <a:srgbClr val="08285A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10287000" y="2606040"/>
            <a:ext cx="100584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5240">
            <a:solidFill>
              <a:srgbClr val="08285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424160" y="2862072"/>
            <a:ext cx="731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法律成果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3246120" y="5230368"/>
            <a:ext cx="53949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权威来源 + 本地知识库 + 工具调用记录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384048"/>
            <a:ext cx="1572768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08208" y="384048"/>
            <a:ext cx="0" cy="713232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48672" y="566928"/>
            <a:ext cx="685800" cy="0"/>
          </a:xfrm>
          <a:prstGeom prst="line">
            <a:avLst/>
          </a:prstGeom>
          <a:noFill/>
          <a:ln w="1143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34472" y="566928"/>
            <a:ext cx="0" cy="50292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62488" y="1078992"/>
            <a:ext cx="73152" cy="73152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6254496"/>
            <a:ext cx="1609344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5623560"/>
            <a:ext cx="0" cy="630936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6089904"/>
            <a:ext cx="987552" cy="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5669280"/>
            <a:ext cx="0" cy="420624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5550408"/>
            <a:ext cx="64008" cy="64008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pic>
        <p:nvPicPr>
          <p:cNvPr id="12" name="Image 0" descr="/mnt/data/lexhub_brand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01752"/>
            <a:ext cx="1920240" cy="7315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3232" y="112471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可信安全与可复核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31520" y="15361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法律结论需要能够回到材料、依据和执行过程重新检查。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1901952"/>
            <a:ext cx="10735056" cy="0"/>
          </a:xfrm>
          <a:prstGeom prst="line">
            <a:avLst/>
          </a:prstGeom>
          <a:noFill/>
          <a:ln w="10160">
            <a:solidFill>
              <a:srgbClr val="E7EC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55680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68680" y="2779776"/>
            <a:ext cx="111556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828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1832" y="2926080"/>
            <a:ext cx="969264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任务输入</a:t>
            </a:r>
            <a:endParaRPr lang="en-US" sz="860" dirty="0"/>
          </a:p>
        </p:txBody>
      </p:sp>
      <p:sp>
        <p:nvSpPr>
          <p:cNvPr id="19" name="Shape 16"/>
          <p:cNvSpPr/>
          <p:nvPr/>
        </p:nvSpPr>
        <p:spPr>
          <a:xfrm>
            <a:off x="2020824" y="2999232"/>
            <a:ext cx="384048" cy="0"/>
          </a:xfrm>
          <a:prstGeom prst="line">
            <a:avLst/>
          </a:prstGeom>
          <a:noFill/>
          <a:ln w="13970">
            <a:solidFill>
              <a:srgbClr val="D9E0EA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2423160" y="2779776"/>
            <a:ext cx="111556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828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496312" y="2926080"/>
            <a:ext cx="969264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DAG 阶段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3575304" y="2999232"/>
            <a:ext cx="384048" cy="0"/>
          </a:xfrm>
          <a:prstGeom prst="line">
            <a:avLst/>
          </a:prstGeom>
          <a:noFill/>
          <a:ln w="13970">
            <a:solidFill>
              <a:srgbClr val="D9E0EA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3977640" y="2779776"/>
            <a:ext cx="111556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828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050792" y="2926080"/>
            <a:ext cx="969264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工具调用</a:t>
            </a:r>
            <a:endParaRPr lang="en-US" sz="860" dirty="0"/>
          </a:p>
        </p:txBody>
      </p:sp>
      <p:sp>
        <p:nvSpPr>
          <p:cNvPr id="25" name="Shape 22"/>
          <p:cNvSpPr/>
          <p:nvPr/>
        </p:nvSpPr>
        <p:spPr>
          <a:xfrm>
            <a:off x="5129784" y="2999232"/>
            <a:ext cx="384048" cy="0"/>
          </a:xfrm>
          <a:prstGeom prst="line">
            <a:avLst/>
          </a:prstGeom>
          <a:noFill/>
          <a:ln w="13970">
            <a:solidFill>
              <a:srgbClr val="D9E0EA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5532120" y="2779776"/>
            <a:ext cx="111556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783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05272" y="2926080"/>
            <a:ext cx="969264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C783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Replay</a:t>
            </a:r>
            <a:endParaRPr lang="en-US" sz="860" dirty="0"/>
          </a:p>
        </p:txBody>
      </p:sp>
      <p:sp>
        <p:nvSpPr>
          <p:cNvPr id="28" name="Shape 25"/>
          <p:cNvSpPr/>
          <p:nvPr/>
        </p:nvSpPr>
        <p:spPr>
          <a:xfrm>
            <a:off x="6684264" y="2999232"/>
            <a:ext cx="384048" cy="0"/>
          </a:xfrm>
          <a:prstGeom prst="line">
            <a:avLst/>
          </a:prstGeom>
          <a:noFill/>
          <a:ln w="13970">
            <a:solidFill>
              <a:srgbClr val="D9E0EA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7086600" y="2779776"/>
            <a:ext cx="111556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783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59752" y="2926080"/>
            <a:ext cx="969264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C783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Snapshot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8238744" y="2999232"/>
            <a:ext cx="384048" cy="0"/>
          </a:xfrm>
          <a:prstGeom prst="line">
            <a:avLst/>
          </a:prstGeom>
          <a:noFill/>
          <a:ln w="13970">
            <a:solidFill>
              <a:srgbClr val="D9E0EA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8641080" y="2779776"/>
            <a:ext cx="111556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783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14232" y="2926080"/>
            <a:ext cx="969264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C783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Audit Log</a:t>
            </a:r>
            <a:endParaRPr lang="en-US" sz="860" dirty="0"/>
          </a:p>
        </p:txBody>
      </p:sp>
      <p:sp>
        <p:nvSpPr>
          <p:cNvPr id="34" name="Shape 31"/>
          <p:cNvSpPr/>
          <p:nvPr/>
        </p:nvSpPr>
        <p:spPr>
          <a:xfrm>
            <a:off x="9793224" y="2999232"/>
            <a:ext cx="384048" cy="0"/>
          </a:xfrm>
          <a:prstGeom prst="line">
            <a:avLst/>
          </a:prstGeom>
          <a:noFill/>
          <a:ln w="13970">
            <a:solidFill>
              <a:srgbClr val="D9E0EA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10195560" y="2779776"/>
            <a:ext cx="111556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7830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268712" y="2926080"/>
            <a:ext cx="969264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C783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导出溯源</a:t>
            </a:r>
            <a:endParaRPr lang="en-US" sz="860" dirty="0"/>
          </a:p>
        </p:txBody>
      </p:sp>
      <p:sp>
        <p:nvSpPr>
          <p:cNvPr id="37" name="Shape 34"/>
          <p:cNvSpPr/>
          <p:nvPr/>
        </p:nvSpPr>
        <p:spPr>
          <a:xfrm>
            <a:off x="1060704" y="4206240"/>
            <a:ext cx="2834640" cy="676656"/>
          </a:xfrm>
          <a:prstGeom prst="roundRect">
            <a:avLst>
              <a:gd name="adj" fmla="val 10811"/>
            </a:avLst>
          </a:prstGeom>
          <a:solidFill>
            <a:srgbClr val="FBFCFE"/>
          </a:solidFill>
          <a:ln w="10160">
            <a:solidFill>
              <a:srgbClr val="E4E9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261872" y="4443984"/>
            <a:ext cx="2432304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Replay：复盘阶段进展与工具输出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663440" y="4206240"/>
            <a:ext cx="2834640" cy="676656"/>
          </a:xfrm>
          <a:prstGeom prst="roundRect">
            <a:avLst>
              <a:gd name="adj" fmla="val 10811"/>
            </a:avLst>
          </a:prstGeom>
          <a:solidFill>
            <a:srgbClr val="FBFCFE"/>
          </a:solidFill>
          <a:ln w="10160">
            <a:solidFill>
              <a:srgbClr val="E4E9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864608" y="4443984"/>
            <a:ext cx="2432304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7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Snapshot：保存执行状态与结果摘要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8266176" y="4206240"/>
            <a:ext cx="2834640" cy="676656"/>
          </a:xfrm>
          <a:prstGeom prst="roundRect">
            <a:avLst>
              <a:gd name="adj" fmla="val 10811"/>
            </a:avLst>
          </a:prstGeom>
          <a:solidFill>
            <a:srgbClr val="FBFCFE"/>
          </a:solidFill>
          <a:ln w="10160">
            <a:solidFill>
              <a:srgbClr val="E4E9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467344" y="4443984"/>
            <a:ext cx="2432304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783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Audit Log：留痕、哈希与导出门禁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2834640" y="5349240"/>
            <a:ext cx="64922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E7ECF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035808" y="5477256"/>
            <a:ext cx="6089904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_entry_hash(previous_hash, payload)  →  sha256  →  digest[:24]</a:t>
            </a:r>
            <a:endParaRPr lang="en-US" sz="8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384048"/>
            <a:ext cx="1572768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08208" y="384048"/>
            <a:ext cx="0" cy="713232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48672" y="566928"/>
            <a:ext cx="685800" cy="0"/>
          </a:xfrm>
          <a:prstGeom prst="line">
            <a:avLst/>
          </a:prstGeom>
          <a:noFill/>
          <a:ln w="1143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34472" y="566928"/>
            <a:ext cx="0" cy="50292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62488" y="1078992"/>
            <a:ext cx="73152" cy="73152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6254496"/>
            <a:ext cx="1609344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5623560"/>
            <a:ext cx="0" cy="630936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6089904"/>
            <a:ext cx="987552" cy="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5669280"/>
            <a:ext cx="0" cy="420624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5550408"/>
            <a:ext cx="64008" cy="64008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pic>
        <p:nvPicPr>
          <p:cNvPr id="12" name="Image 0" descr="/mnt/data/lexhub_brand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01752"/>
            <a:ext cx="1920240" cy="7315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3232" y="112471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创新点与性能价值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31520" y="15361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价值不只在功能跑通，更在行业化改造、效率提升和可复核交付。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1901952"/>
            <a:ext cx="10735056" cy="0"/>
          </a:xfrm>
          <a:prstGeom prst="line">
            <a:avLst/>
          </a:prstGeom>
          <a:noFill/>
          <a:ln w="10160">
            <a:solidFill>
              <a:srgbClr val="E7EC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55680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60120" y="214884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828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97280" y="2240280"/>
            <a:ext cx="187452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状态驱动调度</a:t>
            </a:r>
            <a:endParaRPr lang="en-US" sz="1020" dirty="0"/>
          </a:p>
        </p:txBody>
      </p:sp>
      <p:sp>
        <p:nvSpPr>
          <p:cNvPr id="19" name="Text 16"/>
          <p:cNvSpPr/>
          <p:nvPr/>
        </p:nvSpPr>
        <p:spPr>
          <a:xfrm>
            <a:off x="1106424" y="2450592"/>
            <a:ext cx="185623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按材料、引用、风险动态调度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3474720" y="214884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07F7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11880" y="2240280"/>
            <a:ext cx="187452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7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法律 DAG</a:t>
            </a:r>
            <a:endParaRPr lang="en-US" sz="1020" dirty="0"/>
          </a:p>
        </p:txBody>
      </p:sp>
      <p:sp>
        <p:nvSpPr>
          <p:cNvPr id="22" name="Text 19"/>
          <p:cNvSpPr/>
          <p:nvPr/>
        </p:nvSpPr>
        <p:spPr>
          <a:xfrm>
            <a:off x="3621024" y="2450592"/>
            <a:ext cx="185623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将通用 DAG 转化为业务流程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960120" y="2843784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828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97280" y="2935224"/>
            <a:ext cx="187452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法规 RAG</a:t>
            </a:r>
            <a:endParaRPr lang="en-US" sz="1020" dirty="0"/>
          </a:p>
        </p:txBody>
      </p:sp>
      <p:sp>
        <p:nvSpPr>
          <p:cNvPr id="25" name="Text 22"/>
          <p:cNvSpPr/>
          <p:nvPr/>
        </p:nvSpPr>
        <p:spPr>
          <a:xfrm>
            <a:off x="1106424" y="3145536"/>
            <a:ext cx="185623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融合法规、案例、模板和本地库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3474720" y="2843784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07F7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11880" y="2935224"/>
            <a:ext cx="187452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7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Replay 交付</a:t>
            </a:r>
            <a:endParaRPr lang="en-US" sz="1020" dirty="0"/>
          </a:p>
        </p:txBody>
      </p:sp>
      <p:sp>
        <p:nvSpPr>
          <p:cNvPr id="28" name="Text 25"/>
          <p:cNvSpPr/>
          <p:nvPr/>
        </p:nvSpPr>
        <p:spPr>
          <a:xfrm>
            <a:off x="3621024" y="3145536"/>
            <a:ext cx="185623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过程复盘、文书溯源和人工复核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960120" y="3538728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8285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97280" y="3630168"/>
            <a:ext cx="187452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一体化工作台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1106424" y="3840480"/>
            <a:ext cx="185623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用户端、管理端、材料与导出闭环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6446520" y="2148840"/>
            <a:ext cx="4370832" cy="2651760"/>
          </a:xfrm>
          <a:prstGeom prst="roundRect">
            <a:avLst>
              <a:gd name="adj" fmla="val 2759"/>
            </a:avLst>
          </a:prstGeom>
          <a:solidFill>
            <a:srgbClr val="FBFCFE"/>
          </a:solidFill>
          <a:ln w="10160">
            <a:solidFill>
              <a:srgbClr val="E4E9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93408" y="2423160"/>
            <a:ext cx="138988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演示基准指标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6784848" y="28529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处理时间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8028432" y="2871216"/>
            <a:ext cx="487680" cy="91440"/>
          </a:xfrm>
          <a:prstGeom prst="rect">
            <a:avLst/>
          </a:prstGeom>
          <a:solidFill>
            <a:srgbClr val="08285A"/>
          </a:solidFill>
          <a:ln w="12700">
            <a:solidFill>
              <a:srgbClr val="08285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966960" y="28392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920" dirty="0"/>
          </a:p>
        </p:txBody>
      </p:sp>
      <p:sp>
        <p:nvSpPr>
          <p:cNvPr id="37" name="Text 34"/>
          <p:cNvSpPr/>
          <p:nvPr/>
        </p:nvSpPr>
        <p:spPr>
          <a:xfrm>
            <a:off x="6784848" y="32735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引用可追溯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8028432" y="3291840"/>
            <a:ext cx="1609344" cy="91440"/>
          </a:xfrm>
          <a:prstGeom prst="rect">
            <a:avLst/>
          </a:prstGeom>
          <a:solidFill>
            <a:srgbClr val="08285A"/>
          </a:solidFill>
          <a:ln w="12700">
            <a:solidFill>
              <a:srgbClr val="08285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966960" y="32598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88%</a:t>
            </a:r>
            <a:endParaRPr lang="en-US" sz="920" dirty="0"/>
          </a:p>
        </p:txBody>
      </p:sp>
      <p:sp>
        <p:nvSpPr>
          <p:cNvPr id="40" name="Text 37"/>
          <p:cNvSpPr/>
          <p:nvPr/>
        </p:nvSpPr>
        <p:spPr>
          <a:xfrm>
            <a:off x="6784848" y="36941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过程复核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8028432" y="3712464"/>
            <a:ext cx="1828800" cy="91440"/>
          </a:xfrm>
          <a:prstGeom prst="rect">
            <a:avLst/>
          </a:prstGeom>
          <a:solidFill>
            <a:srgbClr val="08285A"/>
          </a:solidFill>
          <a:ln w="12700">
            <a:solidFill>
              <a:srgbClr val="0828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966960" y="36804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100%</a:t>
            </a:r>
            <a:endParaRPr lang="en-US" sz="920" dirty="0"/>
          </a:p>
        </p:txBody>
      </p:sp>
      <p:sp>
        <p:nvSpPr>
          <p:cNvPr id="43" name="Text 40"/>
          <p:cNvSpPr/>
          <p:nvPr/>
        </p:nvSpPr>
        <p:spPr>
          <a:xfrm>
            <a:off x="6784848" y="41148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工具可见性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8028432" y="4133088"/>
            <a:ext cx="1682496" cy="91440"/>
          </a:xfrm>
          <a:prstGeom prst="rect">
            <a:avLst/>
          </a:prstGeom>
          <a:solidFill>
            <a:srgbClr val="08285A"/>
          </a:solidFill>
          <a:ln w="12700">
            <a:solidFill>
              <a:srgbClr val="08285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966960" y="41010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92%</a:t>
            </a:r>
            <a:endParaRPr lang="en-US" sz="920" dirty="0"/>
          </a:p>
        </p:txBody>
      </p:sp>
      <p:sp>
        <p:nvSpPr>
          <p:cNvPr id="46" name="Text 43"/>
          <p:cNvSpPr/>
          <p:nvPr/>
        </p:nvSpPr>
        <p:spPr>
          <a:xfrm>
            <a:off x="2606040" y="5440680"/>
            <a:ext cx="70408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效率提升之外，更强调依据追溯、过程复核和交付完整度。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384048"/>
            <a:ext cx="1572768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08208" y="384048"/>
            <a:ext cx="0" cy="713232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48672" y="566928"/>
            <a:ext cx="685800" cy="0"/>
          </a:xfrm>
          <a:prstGeom prst="line">
            <a:avLst/>
          </a:prstGeom>
          <a:noFill/>
          <a:ln w="1143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34472" y="566928"/>
            <a:ext cx="0" cy="50292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62488" y="1078992"/>
            <a:ext cx="73152" cy="73152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6254496"/>
            <a:ext cx="1609344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5623560"/>
            <a:ext cx="0" cy="630936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6089904"/>
            <a:ext cx="987552" cy="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5669280"/>
            <a:ext cx="0" cy="420624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5550408"/>
            <a:ext cx="64008" cy="64008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pic>
        <p:nvPicPr>
          <p:cNvPr id="12" name="Image 0" descr="/mnt/data/lexhub_brand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01752"/>
            <a:ext cx="1920240" cy="7315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3232" y="112471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商业方案与社会价值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31520" y="15361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从个人法律从业者和机构客户两类路径落地，提升法律服务效率与可及性。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1901952"/>
            <a:ext cx="10735056" cy="0"/>
          </a:xfrm>
          <a:prstGeom prst="line">
            <a:avLst/>
          </a:prstGeom>
          <a:noFill/>
          <a:ln w="10160">
            <a:solidFill>
              <a:srgbClr val="E7EC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55680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05840" y="2157984"/>
            <a:ext cx="1554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商业路径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05840" y="489204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828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97280" y="5038344"/>
            <a:ext cx="91440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体验版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2167128" y="5074920"/>
            <a:ext cx="237744" cy="-365760"/>
          </a:xfrm>
          <a:prstGeom prst="line">
            <a:avLst/>
          </a:prstGeom>
          <a:noFill/>
          <a:ln w="13970">
            <a:solidFill>
              <a:srgbClr val="C78300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2377440" y="438912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828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468880" y="4535424"/>
            <a:ext cx="91440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专业版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3538728" y="4572000"/>
            <a:ext cx="237744" cy="-365760"/>
          </a:xfrm>
          <a:prstGeom prst="line">
            <a:avLst/>
          </a:prstGeom>
          <a:noFill/>
          <a:ln w="13970">
            <a:solidFill>
              <a:srgbClr val="C78300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3749040" y="38862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828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40480" y="4032504"/>
            <a:ext cx="91440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828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旗舰版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4910328" y="4069080"/>
            <a:ext cx="237744" cy="-365760"/>
          </a:xfrm>
          <a:prstGeom prst="line">
            <a:avLst/>
          </a:prstGeom>
          <a:noFill/>
          <a:ln w="13970">
            <a:solidFill>
              <a:srgbClr val="C78300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5120640" y="33832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783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212080" y="3529584"/>
            <a:ext cx="114300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C783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机构定制</a:t>
            </a:r>
            <a:endParaRPr lang="en-US" sz="920" dirty="0"/>
          </a:p>
        </p:txBody>
      </p:sp>
      <p:sp>
        <p:nvSpPr>
          <p:cNvPr id="29" name="Text 26"/>
          <p:cNvSpPr/>
          <p:nvPr/>
        </p:nvSpPr>
        <p:spPr>
          <a:xfrm>
            <a:off x="6812280" y="2157984"/>
            <a:ext cx="1554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社会价值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812280" y="2697480"/>
            <a:ext cx="146304" cy="146304"/>
          </a:xfrm>
          <a:prstGeom prst="ellipse">
            <a:avLst/>
          </a:prstGeom>
          <a:solidFill>
            <a:srgbClr val="08285A"/>
          </a:solidFill>
          <a:ln w="12700">
            <a:solidFill>
              <a:srgbClr val="08285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95744" y="2651760"/>
            <a:ext cx="35204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降低检索整理成本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812280" y="3172968"/>
            <a:ext cx="146304" cy="146304"/>
          </a:xfrm>
          <a:prstGeom prst="ellipse">
            <a:avLst/>
          </a:prstGeom>
          <a:solidFill>
            <a:srgbClr val="007F73"/>
          </a:solidFill>
          <a:ln w="12700">
            <a:solidFill>
              <a:srgbClr val="007F7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095744" y="3127248"/>
            <a:ext cx="35204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提升中小主体可及性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812280" y="3648456"/>
            <a:ext cx="146304" cy="146304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095744" y="3602736"/>
            <a:ext cx="35204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强化依据追溯与留痕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812280" y="4123944"/>
            <a:ext cx="146304" cy="146304"/>
          </a:xfrm>
          <a:prstGeom prst="ellipse">
            <a:avLst/>
          </a:prstGeom>
          <a:solidFill>
            <a:srgbClr val="12386E"/>
          </a:solidFill>
          <a:ln w="12700">
            <a:solidFill>
              <a:srgbClr val="12386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095744" y="4078224"/>
            <a:ext cx="35204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扩展 Co-Sight 行业应用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812280" y="4800600"/>
            <a:ext cx="23317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目标用户结构（展示口径）</a:t>
            </a:r>
            <a:endParaRPr lang="en-US" sz="1040" dirty="0"/>
          </a:p>
        </p:txBody>
      </p:sp>
      <p:sp>
        <p:nvSpPr>
          <p:cNvPr id="39" name="Shape 36"/>
          <p:cNvSpPr/>
          <p:nvPr/>
        </p:nvSpPr>
        <p:spPr>
          <a:xfrm>
            <a:off x="6812280" y="5138928"/>
            <a:ext cx="1184148" cy="146304"/>
          </a:xfrm>
          <a:prstGeom prst="rect">
            <a:avLst/>
          </a:prstGeom>
          <a:solidFill>
            <a:srgbClr val="08285A"/>
          </a:solidFill>
          <a:ln w="12700">
            <a:solidFill>
              <a:srgbClr val="08285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996428" y="5138928"/>
            <a:ext cx="1014984" cy="146304"/>
          </a:xfrm>
          <a:prstGeom prst="rect">
            <a:avLst/>
          </a:prstGeom>
          <a:solidFill>
            <a:srgbClr val="007F73"/>
          </a:solidFill>
          <a:ln w="12700">
            <a:solidFill>
              <a:srgbClr val="007F7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011412" y="5138928"/>
            <a:ext cx="845820" cy="146304"/>
          </a:xfrm>
          <a:prstGeom prst="rect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857232" y="5138928"/>
            <a:ext cx="338328" cy="146304"/>
          </a:xfrm>
          <a:prstGeom prst="rect">
            <a:avLst/>
          </a:prstGeom>
          <a:solidFill>
            <a:srgbClr val="12386E"/>
          </a:solidFill>
          <a:ln w="12700">
            <a:solidFill>
              <a:srgbClr val="12386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812280" y="5394960"/>
            <a:ext cx="379476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35% 个人律师     30% 律所团队     25% 企业法务     10% 政企机构</a:t>
            </a:r>
            <a:endParaRPr lang="en-US" sz="8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384048"/>
            <a:ext cx="1572768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08208" y="384048"/>
            <a:ext cx="0" cy="713232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48672" y="566928"/>
            <a:ext cx="685800" cy="0"/>
          </a:xfrm>
          <a:prstGeom prst="line">
            <a:avLst/>
          </a:prstGeom>
          <a:noFill/>
          <a:ln w="1143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34472" y="566928"/>
            <a:ext cx="0" cy="50292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62488" y="1078992"/>
            <a:ext cx="73152" cy="73152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6254496"/>
            <a:ext cx="1609344" cy="0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5623560"/>
            <a:ext cx="0" cy="630936"/>
          </a:xfrm>
          <a:prstGeom prst="line">
            <a:avLst/>
          </a:prstGeom>
          <a:noFill/>
          <a:ln w="11430">
            <a:solidFill>
              <a:srgbClr val="C783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6089904"/>
            <a:ext cx="987552" cy="0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5669280"/>
            <a:ext cx="0" cy="420624"/>
          </a:xfrm>
          <a:prstGeom prst="line">
            <a:avLst/>
          </a:prstGeom>
          <a:noFill/>
          <a:ln w="11430">
            <a:solidFill>
              <a:srgbClr val="AEB8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5550408"/>
            <a:ext cx="64008" cy="64008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pic>
        <p:nvPicPr>
          <p:cNvPr id="12" name="Image 0" descr="/mnt/data/lexhub_brand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2286000" cy="877824"/>
          </a:xfrm>
          <a:prstGeom prst="rect">
            <a:avLst/>
          </a:prstGeom>
        </p:spPr>
      </p:pic>
      <p:pic>
        <p:nvPicPr>
          <p:cNvPr id="13" name="Image 1" descr="/mnt/data/lexhub_logo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11680"/>
            <a:ext cx="1234440" cy="12344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68880" y="2103120"/>
            <a:ext cx="38404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总结与交付成果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2487168" y="2679192"/>
            <a:ext cx="7178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LexHub 已形成可运行、可复核、可继续扩展的竞赛交付。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2487168" y="3337560"/>
            <a:ext cx="1572768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08285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596896" y="3465576"/>
            <a:ext cx="135331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前端工程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407408" y="3337560"/>
            <a:ext cx="1572768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007F7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17136" y="3465576"/>
            <a:ext cx="135331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后端工程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327648" y="3337560"/>
            <a:ext cx="1572768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C7830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37376" y="3465576"/>
            <a:ext cx="135331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工作流配置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8247888" y="3337560"/>
            <a:ext cx="1572768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08285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357616" y="3465576"/>
            <a:ext cx="135331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智能体配置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2487168" y="3941064"/>
            <a:ext cx="1572768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007F7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596896" y="4069080"/>
            <a:ext cx="135331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自定义工具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407408" y="3941064"/>
            <a:ext cx="1572768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C7830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517136" y="4069080"/>
            <a:ext cx="135331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测试材料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6327648" y="3941064"/>
            <a:ext cx="1572768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08285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437376" y="4069080"/>
            <a:ext cx="135331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技术文档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2487168" y="4937760"/>
            <a:ext cx="2246681" cy="0"/>
          </a:xfrm>
          <a:prstGeom prst="line">
            <a:avLst/>
          </a:prstGeom>
          <a:noFill/>
          <a:ln w="10160">
            <a:solidFill>
              <a:srgbClr val="C7830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054803" y="4905756"/>
            <a:ext cx="73152" cy="73152"/>
          </a:xfrm>
          <a:prstGeom prst="ellipse">
            <a:avLst/>
          </a:prstGeom>
          <a:solidFill>
            <a:srgbClr val="C78300"/>
          </a:solidFill>
          <a:ln w="12700">
            <a:solidFill>
              <a:srgbClr val="C7830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482742" y="4937760"/>
            <a:ext cx="2353666" cy="0"/>
          </a:xfrm>
          <a:prstGeom prst="line">
            <a:avLst/>
          </a:prstGeom>
          <a:noFill/>
          <a:ln w="8890">
            <a:solidFill>
              <a:srgbClr val="D8B981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2487168" y="5212080"/>
            <a:ext cx="534924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285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六百六十六团队 · 律枢 LexHub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2487168" y="5577840"/>
            <a:ext cx="53492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感谢各位老师与评委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六百六十六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律枢 LexHub：法律业务智能服务平台</dc:title>
  <dc:subject>律枢 LexHub 国赛答辩 PPT</dc:subject>
  <dc:creator>OpenAI</dc:creator>
  <cp:lastModifiedBy>OpenAI</cp:lastModifiedBy>
  <cp:revision>1</cp:revision>
  <dcterms:created xsi:type="dcterms:W3CDTF">2026-07-06T14:07:18Z</dcterms:created>
  <dcterms:modified xsi:type="dcterms:W3CDTF">2026-07-06T14:07:18Z</dcterms:modified>
</cp:coreProperties>
</file>